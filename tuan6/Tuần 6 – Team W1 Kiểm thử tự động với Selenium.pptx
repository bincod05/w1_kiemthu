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1] (khoảng 20 giây). Chào thầy/cô và các bạn. Team W1 trình bày về kiểm thử tự động với Selenium WebDriver. Bọn mình sẽ đi qua: kiểm thử tự động là gì, khi nào không nên dùng, các thành phần và kiến trúc của Selenium, rồi chạy trực tiếp bài kiểm thử Đăng nhập.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1] (khoảng 1 phút). Kiểm thử tự động là viết code để thao tác ứng dụng giống người dùng (mở trang, gõ, bấm), rồi code tự kiểm tra kết quả. Lợi ích chính: chạy lại nhanh mỗi khi sửa code (kiểm thử hồi quy), chính xác và nhất quán hơn kiểm thử tay, và có thể tự chạy trong CI mỗi lần đẩy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2] (khoảng 1 phút). Tháp kiểm thử: đáy là unit test, nhiều, nhanh, rẻ; giữa là test tích hợp; đỉnh là test qua giao diện, ít nhất vì chậm, dễ vỡ khi giao diện đổi và tốn công bảo trì. Vì vậy không nên tự động mọi thứ qua giao diện: khi giao diện còn đổi liên tục, khi chỉ test một lần, khi cần đánh giá cảm quan, hoặc khi kiểm thử khám phá. Test UI chỉ nên dành cho luồng quan trọng như Đăng nhập. Đây cũng là câu trả lời cho câu hỏi đọc tài liệu: vì sao kiểm thử qua giao diện nên ít và có chọn lọc.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2] (khoảng 1 phút). Đây là câu trả lời cho câu hỏi đọc tài liệu: WebDriver khác Selenium IDE và Selenium Grid ở đâu. IDE là tiện ích trình duyệt, ghi lại thao tác rồi phát lại, không cần code nhưng khó bảo trì. WebDriver là thư viện để viết test bằng code, điều khiển trình duyệt thật qua driver; team chọn cách này. Grid không thay thế WebDriver mà dùng để chạy các test WebDriver song song trên nhiều máy và nhiều trình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3] (khoảng 1 phút 15 giây). Đây là hình kiến trúc của team. Code Python không điều khiển Chrome trực tiếp. Mỗi lệnh như find_element được thư viện selenium đổi thành một yêu cầu HTTP có dữ liệu JSON, theo chuẩn W3C WebDriver, gửi tới ChromeDriver. ChromeDriver là chương trình trung gian, nhận lệnh rồi điều khiển Chrome làm việc thật: tìm ô username. Kết quả đi ngược lại: Chrome trả về phần tử, ChromeDriver gửi lại cho Python dưới dạng JSON. Mỗi trình duyệt có driver riêng: Firefox có GeckoDriver, Edge có EdgeDriver. Từ Selenium 4.6, Selenium Manager tự tải đúng phiên bản ChromeDriver nên không cần cài 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3] (khoảng 1 phút). Mọi test giao diện đều có 3 bước. Bước 1 mở trang bằng get. Bước 2 thao tác như người dùng: find_element tìm ô theo id, send_keys gõ chữ, click bấm nút. Bước 3 kiểm tra: assertIn xem thông báo có chứa câu “You logged into a secure area!” không. Không có bước kiểm tra thì chỉ là chạy tự động, chưa phải kiểm thử. setUp chạy trước mỗi test để mở Chrome, tearDown chạy sau mỗi test để đóng Chrome, kể cả khi test trượt. self là chính đối tượng test, giống this trong Java; self.driver là trình duyệt mà bài test đang giữ. Id “username” lấy được bằng cách chuột phải vào ô nhập, chọn Inspect.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4] (khoảng 1 phút 30 giây). Mở terminal, chạy python -m unittest test_login.py -v. Chrome tự mở, tự gõ tài khoản, tự bấm. Cho lớp xem 3 test: đăng nhập đúng; sai mật khẩu và gửi form bằng phím Enter (Keys.ENTER, đúng chủ đề phím đặc biệt của W1); và trang /key_presses nhấn TAB. Cuối cùng chỉ vào dòng “Ran 3 tests … OK”. Nếu còn thời gian: sửa mật khẩu đúng thành sai để cả lớp thấy test chuyển sang FAIL. Chạy thử trước buổi học để chắc mạng và Chrome hoạt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[Thành viên 4] (khoảng 20 giây), sau đó cả team trả lời câu hỏi trong 3 phút. Tóm tắt 3 ý: test UI gồm mở trang, thao tác, kiểm tra; code đi qua driver theo chuẩn W3C WebDriver; test UI nên ít và có chọn lọc. Mời thầy/cô và các bạn đặt câu hỏi. Nhớ ghi lại góp ý vào notes.md. Câu hỏi có thể gặp: WebDriver khác IDE và Grid ở đâu (slide 4); vì sao cần ChromeDriver (slide 5); vì sao dùng assertIn mà không dùng assertEqual (thông báo còn chứa thêm ký tự nút đóng ×); implicitly_wait để làm gì (chờ tối đa 5 giây cho phần tử xuất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21"/>
            <a:ext cx="10566400" cy="41706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Be Vietnam Pro" pitchFamily="34" charset="0"/>
                <a:ea typeface="Be Vietnam Pro" pitchFamily="34" charset="-122"/>
                <a:cs typeface="Be Vietnam Pro" pitchFamily="34" charset="-120"/>
              </a:rPr>
              <a:t>BÁO CÁO CHUYÊN ĐỀ · TUẦN 6</a:t>
            </a:r>
            <a:endParaRPr lang="en-US" sz="1200" dirty="0"/>
          </a:p>
        </p:txBody>
      </p:sp>
      <p:sp>
        <p:nvSpPr>
          <p:cNvPr id="3" name="Shape 1"/>
          <p:cNvSpPr/>
          <p:nvPr/>
        </p:nvSpPr>
        <p:spPr>
          <a:xfrm>
            <a:off x="812800" y="2311400"/>
            <a:ext cx="762000" cy="50800"/>
          </a:xfrm>
          <a:prstGeom prst="roundRect">
            <a:avLst>
              <a:gd name="adj" fmla="val 50000"/>
            </a:avLst>
          </a:prstGeom>
          <a:solidFill>
            <a:srgbClr val="F2A65A"/>
          </a:solidFill>
          <a:ln/>
        </p:spPr>
      </p:sp>
      <p:sp>
        <p:nvSpPr>
          <p:cNvPr id="4" name="Text 2"/>
          <p:cNvSpPr/>
          <p:nvPr>
            <p:ph type="title"/>
          </p:nvPr>
        </p:nvSpPr>
        <p:spPr>
          <a:xfrm>
            <a:off x="812800" y="2565400"/>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Be Vietnam Pro" pitchFamily="34" charset="0"/>
                <a:ea typeface="Be Vietnam Pro" pitchFamily="34" charset="-122"/>
                <a:cs typeface="Be Vietnam Pro" pitchFamily="34" charset="-120"/>
              </a:rPr>
              <a:t>Kiểm thử tự động với Selenium WebDriver</a:t>
            </a:r>
            <a:endParaRPr lang="en-US" sz="4800" dirty="0"/>
          </a:p>
        </p:txBody>
      </p:sp>
      <p:sp>
        <p:nvSpPr>
          <p:cNvPr id="5" name="Text 3"/>
          <p:cNvSpPr/>
          <p:nvPr/>
        </p:nvSpPr>
        <p:spPr>
          <a:xfrm>
            <a:off x="812800" y="41097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Be Vietnam Pro" pitchFamily="34" charset="0"/>
                <a:ea typeface="Be Vietnam Pro" pitchFamily="34" charset="-122"/>
                <a:cs typeface="Be Vietnam Pro" pitchFamily="34" charset="-120"/>
              </a:rPr>
              <a:t>Kiến trúc, cách tiếp cận và demo bài kiểm thử Đăng nhập trên the-internet.herokuapp.com</a:t>
            </a:r>
            <a:endParaRPr lang="en-US" sz="1600" dirty="0"/>
          </a:p>
        </p:txBody>
      </p:sp>
      <p:sp>
        <p:nvSpPr>
          <p:cNvPr id="6" name="Text 4"/>
          <p:cNvSpPr/>
          <p:nvPr/>
        </p:nvSpPr>
        <p:spPr>
          <a:xfrm>
            <a:off x="812800" y="5679440"/>
            <a:ext cx="1037193" cy="365760"/>
          </a:xfrm>
          <a:prstGeom prst="roundRect">
            <a:avLst>
              <a:gd name="adj" fmla="val 50000"/>
            </a:avLst>
          </a:prstGeom>
          <a:solidFill>
            <a:srgbClr val="F2A65A"/>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Be Vietnam Pro" pitchFamily="34" charset="0"/>
                <a:ea typeface="Be Vietnam Pro" pitchFamily="34" charset="-122"/>
                <a:cs typeface="Be Vietnam Pro" pitchFamily="34" charset="-120"/>
              </a:rPr>
              <a:t>Team W1</a:t>
            </a:r>
            <a:endParaRPr lang="en-US" sz="1200" dirty="0"/>
          </a:p>
        </p:txBody>
      </p:sp>
      <p:sp>
        <p:nvSpPr>
          <p:cNvPr id="7" name="Text 5"/>
          <p:cNvSpPr/>
          <p:nvPr/>
        </p:nvSpPr>
        <p:spPr>
          <a:xfrm>
            <a:off x="2002393" y="5755640"/>
            <a:ext cx="55447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Be Vietnam Pro" pitchFamily="34" charset="0"/>
                <a:ea typeface="Be Vietnam Pro" pitchFamily="34" charset="-122"/>
                <a:cs typeface="Be Vietnam Pro" pitchFamily="34" charset="-120"/>
              </a:rPr>
              <a:t>[Thành viên 1] · [Thành viên 2] · [Thành viên 3] · [Thành viên 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B17"/>
                </a:solidFill>
                <a:latin typeface="Be Vietnam Pro" pitchFamily="34" charset="0"/>
                <a:ea typeface="Be Vietnam Pro" pitchFamily="34" charset="-122"/>
                <a:cs typeface="Be Vietnam Pro" pitchFamily="34" charset="-120"/>
              </a:rPr>
              <a:t>01 · KHÁI NIỆM</a:t>
            </a:r>
            <a:endParaRPr lang="en-US" sz="1200" dirty="0"/>
          </a:p>
        </p:txBody>
      </p:sp>
      <p:sp>
        <p:nvSpPr>
          <p:cNvPr id="3" name="Text 1"/>
          <p:cNvSpPr/>
          <p:nvPr>
            <p:ph type="title"/>
          </p:nvPr>
        </p:nvSpPr>
        <p:spPr>
          <a:xfrm>
            <a:off x="812800" y="1102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Be Vietnam Pro" pitchFamily="34" charset="0"/>
                <a:ea typeface="Be Vietnam Pro" pitchFamily="34" charset="-122"/>
                <a:cs typeface="Be Vietnam Pro" pitchFamily="34" charset="-120"/>
              </a:rPr>
              <a:t>Kiểm thử tự động là gì, vì sao cần?</a:t>
            </a:r>
            <a:endParaRPr lang="en-US" sz="3200" dirty="0"/>
          </a:p>
        </p:txBody>
      </p:sp>
      <p:sp>
        <p:nvSpPr>
          <p:cNvPr id="4" name="Text 2"/>
          <p:cNvSpPr/>
          <p:nvPr/>
        </p:nvSpPr>
        <p:spPr>
          <a:xfrm>
            <a:off x="812800" y="1874520"/>
            <a:ext cx="10883392"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4213D"/>
                </a:solidFill>
                <a:latin typeface="Be Vietnam Pro" pitchFamily="34" charset="0"/>
                <a:ea typeface="Be Vietnam Pro" pitchFamily="34" charset="-122"/>
                <a:cs typeface="Be Vietnam Pro" pitchFamily="34" charset="-120"/>
              </a:rPr>
              <a:t>Viết code để thao tác ứng dụng như người dùng thật, rồi </a:t>
            </a:r>
            <a:r>
              <a:rPr lang="en-US" sz="2200" dirty="0">
                <a:solidFill>
                  <a:srgbClr val="A84B17"/>
                </a:solidFill>
                <a:latin typeface="Be Vietnam Pro" pitchFamily="34" charset="0"/>
                <a:ea typeface="Be Vietnam Pro" pitchFamily="34" charset="-122"/>
                <a:cs typeface="Be Vietnam Pro" pitchFamily="34" charset="-120"/>
              </a:rPr>
              <a:t>tự kiểm tra</a:t>
            </a:r>
            <a:r>
              <a:rPr lang="en-US" sz="2200" dirty="0">
                <a:solidFill>
                  <a:srgbClr val="14213D"/>
                </a:solidFill>
                <a:latin typeface="Be Vietnam Pro" pitchFamily="34" charset="0"/>
                <a:ea typeface="Be Vietnam Pro" pitchFamily="34" charset="-122"/>
                <a:cs typeface="Be Vietnam Pro" pitchFamily="34" charset="-120"/>
              </a:rPr>
              <a:t> kết quả đúng hay sai.</a:t>
            </a:r>
            <a:endParaRPr lang="en-US" sz="2200" dirty="0"/>
          </a:p>
        </p:txBody>
      </p:sp>
      <p:sp>
        <p:nvSpPr>
          <p:cNvPr id="5" name="Shape 3"/>
          <p:cNvSpPr/>
          <p:nvPr/>
        </p:nvSpPr>
        <p:spPr>
          <a:xfrm>
            <a:off x="815975" y="2908935"/>
            <a:ext cx="3380264" cy="2259330"/>
          </a:xfrm>
          <a:prstGeom prst="roundRect">
            <a:avLst>
              <a:gd name="adj" fmla="val 4356"/>
            </a:avLst>
          </a:prstGeom>
          <a:solidFill>
            <a:srgbClr val="FDFCF9"/>
          </a:solidFill>
          <a:ln w="6350">
            <a:solidFill>
              <a:srgbClr val="E2DFD6"/>
            </a:solidFill>
            <a:prstDash val="solid"/>
          </a:ln>
        </p:spPr>
      </p:sp>
      <p:pic>
        <p:nvPicPr>
          <p:cNvPr id="6" name="Image 0" descr="Lightning">    </p:cNvPr>
          <p:cNvPicPr>
            <a:picLocks noChangeAspect="1"/>
          </p:cNvPicPr>
          <p:nvPr/>
        </p:nvPicPr>
        <p:blipFill>
          <a:blip r:embed="rId1"/>
          <a:srcRect l="0" r="0" t="0" b="0"/>
          <a:stretch/>
        </p:blipFill>
        <p:spPr>
          <a:xfrm>
            <a:off x="1071880" y="3164840"/>
            <a:ext cx="355600" cy="355600"/>
          </a:xfrm>
          <a:prstGeom prst="rect">
            <a:avLst/>
          </a:prstGeom>
        </p:spPr>
      </p:pic>
      <p:sp>
        <p:nvSpPr>
          <p:cNvPr id="7" name="Text 4"/>
          <p:cNvSpPr/>
          <p:nvPr/>
        </p:nvSpPr>
        <p:spPr>
          <a:xfrm>
            <a:off x="1071880" y="3622040"/>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Nhanh, lặp lại</a:t>
            </a:r>
            <a:endParaRPr lang="en-US" sz="2200" dirty="0"/>
          </a:p>
        </p:txBody>
      </p:sp>
      <p:sp>
        <p:nvSpPr>
          <p:cNvPr id="8" name="Text 5"/>
          <p:cNvSpPr/>
          <p:nvPr/>
        </p:nvSpPr>
        <p:spPr>
          <a:xfrm>
            <a:off x="1071880" y="4058920"/>
            <a:ext cx="2954507"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Chạy lại toàn bộ test sau mỗi lần sửa code (kiểm thử hồi quy) chỉ trong vài phút.</a:t>
            </a:r>
            <a:endParaRPr lang="en-US" sz="1600" dirty="0"/>
          </a:p>
        </p:txBody>
      </p:sp>
      <p:sp>
        <p:nvSpPr>
          <p:cNvPr id="9" name="Shape 6"/>
          <p:cNvSpPr/>
          <p:nvPr/>
        </p:nvSpPr>
        <p:spPr>
          <a:xfrm>
            <a:off x="4405789" y="2908935"/>
            <a:ext cx="3380343" cy="2259330"/>
          </a:xfrm>
          <a:prstGeom prst="roundRect">
            <a:avLst>
              <a:gd name="adj" fmla="val 4356"/>
            </a:avLst>
          </a:prstGeom>
          <a:solidFill>
            <a:srgbClr val="FDFCF9"/>
          </a:solidFill>
          <a:ln w="6350">
            <a:solidFill>
              <a:srgbClr val="E2DFD6"/>
            </a:solidFill>
            <a:prstDash val="solid"/>
          </a:ln>
        </p:spPr>
      </p:sp>
      <p:pic>
        <p:nvPicPr>
          <p:cNvPr id="10" name="Image 1" descr="CheckCircle">    </p:cNvPr>
          <p:cNvPicPr>
            <a:picLocks noChangeAspect="1"/>
          </p:cNvPicPr>
          <p:nvPr/>
        </p:nvPicPr>
        <p:blipFill>
          <a:blip r:embed="rId2"/>
          <a:srcRect l="0" r="0" t="0" b="0"/>
          <a:stretch/>
        </p:blipFill>
        <p:spPr>
          <a:xfrm>
            <a:off x="4661694" y="3164840"/>
            <a:ext cx="355600" cy="355600"/>
          </a:xfrm>
          <a:prstGeom prst="rect">
            <a:avLst/>
          </a:prstGeom>
        </p:spPr>
      </p:pic>
      <p:sp>
        <p:nvSpPr>
          <p:cNvPr id="11" name="Text 7"/>
          <p:cNvSpPr/>
          <p:nvPr/>
        </p:nvSpPr>
        <p:spPr>
          <a:xfrm>
            <a:off x="4661694" y="3622040"/>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Chính xác</a:t>
            </a:r>
            <a:endParaRPr lang="en-US" sz="2200" dirty="0"/>
          </a:p>
        </p:txBody>
      </p:sp>
      <p:sp>
        <p:nvSpPr>
          <p:cNvPr id="12" name="Text 8"/>
          <p:cNvSpPr/>
          <p:nvPr/>
        </p:nvSpPr>
        <p:spPr>
          <a:xfrm>
            <a:off x="4661694" y="4058920"/>
            <a:ext cx="295458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Không quên bước, không mỏi mắt; lần nào cũng kiểm tra theo đúng một cách.</a:t>
            </a:r>
            <a:endParaRPr lang="en-US" sz="1600" dirty="0"/>
          </a:p>
        </p:txBody>
      </p:sp>
      <p:sp>
        <p:nvSpPr>
          <p:cNvPr id="13" name="Shape 9"/>
          <p:cNvSpPr/>
          <p:nvPr/>
        </p:nvSpPr>
        <p:spPr>
          <a:xfrm>
            <a:off x="7995682" y="2908935"/>
            <a:ext cx="3380343" cy="2259330"/>
          </a:xfrm>
          <a:prstGeom prst="roundRect">
            <a:avLst>
              <a:gd name="adj" fmla="val 4356"/>
            </a:avLst>
          </a:prstGeom>
          <a:solidFill>
            <a:srgbClr val="FDFCF9"/>
          </a:solidFill>
          <a:ln w="6350">
            <a:solidFill>
              <a:srgbClr val="E2DFD6"/>
            </a:solidFill>
            <a:prstDash val="solid"/>
          </a:ln>
        </p:spPr>
      </p:sp>
      <p:pic>
        <p:nvPicPr>
          <p:cNvPr id="14" name="Image 2" descr="Play">    </p:cNvPr>
          <p:cNvPicPr>
            <a:picLocks noChangeAspect="1"/>
          </p:cNvPicPr>
          <p:nvPr/>
        </p:nvPicPr>
        <p:blipFill>
          <a:blip r:embed="rId3"/>
          <a:srcRect l="0" r="0" t="0" b="0"/>
          <a:stretch/>
        </p:blipFill>
        <p:spPr>
          <a:xfrm>
            <a:off x="8251587" y="3164840"/>
            <a:ext cx="355600" cy="355600"/>
          </a:xfrm>
          <a:prstGeom prst="rect">
            <a:avLst/>
          </a:prstGeom>
        </p:spPr>
      </p:pic>
      <p:sp>
        <p:nvSpPr>
          <p:cNvPr id="15" name="Text 10"/>
          <p:cNvSpPr/>
          <p:nvPr/>
        </p:nvSpPr>
        <p:spPr>
          <a:xfrm>
            <a:off x="8251587" y="3622040"/>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Tích hợp CI</a:t>
            </a:r>
            <a:endParaRPr lang="en-US" sz="2200" dirty="0"/>
          </a:p>
        </p:txBody>
      </p:sp>
      <p:sp>
        <p:nvSpPr>
          <p:cNvPr id="16" name="Text 11"/>
          <p:cNvSpPr/>
          <p:nvPr/>
        </p:nvSpPr>
        <p:spPr>
          <a:xfrm>
            <a:off x="8251587" y="4058920"/>
            <a:ext cx="2954589"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Tự chạy mỗi khi đẩy code lên GitHub, phát hiện lỗi sớm trước khi tới tay người dùng.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B17"/>
                </a:solidFill>
                <a:latin typeface="Be Vietnam Pro" pitchFamily="34" charset="0"/>
                <a:ea typeface="Be Vietnam Pro" pitchFamily="34" charset="-122"/>
                <a:cs typeface="Be Vietnam Pro" pitchFamily="34" charset="-120"/>
              </a:rPr>
              <a:t>02 · THÁP KIỂM THỬ</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Be Vietnam Pro" pitchFamily="34" charset="0"/>
                <a:ea typeface="Be Vietnam Pro" pitchFamily="34" charset="-122"/>
                <a:cs typeface="Be Vietnam Pro" pitchFamily="34" charset="-120"/>
              </a:rPr>
              <a:t>Khi nào không nên tự động qua giao diện?</a:t>
            </a:r>
            <a:endParaRPr lang="en-US" sz="3200" dirty="0"/>
          </a:p>
        </p:txBody>
      </p:sp>
      <p:sp>
        <p:nvSpPr>
          <p:cNvPr id="4" name="Shape 2"/>
          <p:cNvSpPr/>
          <p:nvPr/>
        </p:nvSpPr>
        <p:spPr>
          <a:xfrm>
            <a:off x="2019300" y="1874520"/>
            <a:ext cx="1905000" cy="736600"/>
          </a:xfrm>
          <a:prstGeom prst="roundRect">
            <a:avLst>
              <a:gd name="adj" fmla="val 10345"/>
            </a:avLst>
          </a:prstGeom>
          <a:solidFill>
            <a:srgbClr val="A84B17"/>
          </a:solidFill>
          <a:ln/>
        </p:spPr>
      </p:sp>
      <p:sp>
        <p:nvSpPr>
          <p:cNvPr id="5" name="Text 3"/>
          <p:cNvSpPr/>
          <p:nvPr/>
        </p:nvSpPr>
        <p:spPr>
          <a:xfrm>
            <a:off x="2841943" y="2001520"/>
            <a:ext cx="259715"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BF7F2"/>
                </a:solidFill>
                <a:latin typeface="Be Vietnam Pro" pitchFamily="34" charset="0"/>
                <a:ea typeface="Be Vietnam Pro" pitchFamily="34" charset="-122"/>
                <a:cs typeface="Be Vietnam Pro" pitchFamily="34" charset="-120"/>
              </a:rPr>
              <a:t>UI</a:t>
            </a:r>
            <a:endParaRPr lang="en-US" sz="1600" dirty="0"/>
          </a:p>
        </p:txBody>
      </p:sp>
      <p:sp>
        <p:nvSpPr>
          <p:cNvPr id="6" name="Text 4"/>
          <p:cNvSpPr/>
          <p:nvPr/>
        </p:nvSpPr>
        <p:spPr>
          <a:xfrm>
            <a:off x="2277245" y="2270761"/>
            <a:ext cx="138903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BF7F2"/>
                </a:solidFill>
                <a:latin typeface="Be Vietnam Pro" pitchFamily="34" charset="0"/>
                <a:ea typeface="Be Vietnam Pro" pitchFamily="34" charset="-122"/>
                <a:cs typeface="Be Vietnam Pro" pitchFamily="34" charset="-120"/>
              </a:rPr>
              <a:t>ít · chậm · dễ vỡ</a:t>
            </a:r>
            <a:endParaRPr lang="en-US" sz="1200" dirty="0"/>
          </a:p>
        </p:txBody>
      </p:sp>
      <p:sp>
        <p:nvSpPr>
          <p:cNvPr id="7" name="Shape 5"/>
          <p:cNvSpPr/>
          <p:nvPr/>
        </p:nvSpPr>
        <p:spPr>
          <a:xfrm>
            <a:off x="1416050" y="2661920"/>
            <a:ext cx="3111500" cy="736600"/>
          </a:xfrm>
          <a:prstGeom prst="roundRect">
            <a:avLst>
              <a:gd name="adj" fmla="val 10345"/>
            </a:avLst>
          </a:prstGeom>
          <a:solidFill>
            <a:srgbClr val="2F6FB0"/>
          </a:solidFill>
          <a:ln/>
        </p:spPr>
      </p:sp>
      <p:sp>
        <p:nvSpPr>
          <p:cNvPr id="8" name="Text 6"/>
          <p:cNvSpPr/>
          <p:nvPr/>
        </p:nvSpPr>
        <p:spPr>
          <a:xfrm>
            <a:off x="1845191" y="2788920"/>
            <a:ext cx="2253139"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BF7F2"/>
                </a:solidFill>
                <a:latin typeface="Be Vietnam Pro" pitchFamily="34" charset="0"/>
                <a:ea typeface="Be Vietnam Pro" pitchFamily="34" charset="-122"/>
                <a:cs typeface="Be Vietnam Pro" pitchFamily="34" charset="-120"/>
              </a:rPr>
              <a:t>Service / Tích hợp</a:t>
            </a:r>
            <a:endParaRPr lang="en-US" sz="1600" dirty="0"/>
          </a:p>
        </p:txBody>
      </p:sp>
      <p:sp>
        <p:nvSpPr>
          <p:cNvPr id="9" name="Text 7"/>
          <p:cNvSpPr/>
          <p:nvPr/>
        </p:nvSpPr>
        <p:spPr>
          <a:xfrm>
            <a:off x="2588522" y="3058161"/>
            <a:ext cx="766477"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BF7F2"/>
                </a:solidFill>
                <a:latin typeface="Be Vietnam Pro" pitchFamily="34" charset="0"/>
                <a:ea typeface="Be Vietnam Pro" pitchFamily="34" charset="-122"/>
                <a:cs typeface="Be Vietnam Pro" pitchFamily="34" charset="-120"/>
              </a:rPr>
              <a:t>vừa phải</a:t>
            </a:r>
            <a:endParaRPr lang="en-US" sz="1200" dirty="0"/>
          </a:p>
        </p:txBody>
      </p:sp>
      <p:sp>
        <p:nvSpPr>
          <p:cNvPr id="10" name="Shape 8"/>
          <p:cNvSpPr/>
          <p:nvPr/>
        </p:nvSpPr>
        <p:spPr>
          <a:xfrm>
            <a:off x="812800" y="3449320"/>
            <a:ext cx="4318000" cy="736600"/>
          </a:xfrm>
          <a:prstGeom prst="roundRect">
            <a:avLst>
              <a:gd name="adj" fmla="val 10345"/>
            </a:avLst>
          </a:prstGeom>
          <a:solidFill>
            <a:srgbClr val="14213D"/>
          </a:solidFill>
          <a:ln/>
        </p:spPr>
      </p:sp>
      <p:sp>
        <p:nvSpPr>
          <p:cNvPr id="11" name="Text 9"/>
          <p:cNvSpPr/>
          <p:nvPr/>
        </p:nvSpPr>
        <p:spPr>
          <a:xfrm>
            <a:off x="2719388" y="3576320"/>
            <a:ext cx="504825" cy="26924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FBF7F2"/>
                </a:solidFill>
                <a:latin typeface="Be Vietnam Pro" pitchFamily="34" charset="0"/>
                <a:ea typeface="Be Vietnam Pro" pitchFamily="34" charset="-122"/>
                <a:cs typeface="Be Vietnam Pro" pitchFamily="34" charset="-120"/>
              </a:rPr>
              <a:t>Unit</a:t>
            </a:r>
            <a:endParaRPr lang="en-US" sz="1600" dirty="0"/>
          </a:p>
        </p:txBody>
      </p:sp>
      <p:sp>
        <p:nvSpPr>
          <p:cNvPr id="12" name="Text 10"/>
          <p:cNvSpPr/>
          <p:nvPr/>
        </p:nvSpPr>
        <p:spPr>
          <a:xfrm>
            <a:off x="2242090" y="3845561"/>
            <a:ext cx="145942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BF7F2"/>
                </a:solidFill>
                <a:latin typeface="Be Vietnam Pro" pitchFamily="34" charset="0"/>
                <a:ea typeface="Be Vietnam Pro" pitchFamily="34" charset="-122"/>
                <a:cs typeface="Be Vietnam Pro" pitchFamily="34" charset="-120"/>
              </a:rPr>
              <a:t>nhiều · nhanh · rẻ</a:t>
            </a:r>
            <a:endParaRPr lang="en-US" sz="1200" dirty="0"/>
          </a:p>
        </p:txBody>
      </p:sp>
      <p:sp>
        <p:nvSpPr>
          <p:cNvPr id="13" name="Text 11"/>
          <p:cNvSpPr/>
          <p:nvPr/>
        </p:nvSpPr>
        <p:spPr>
          <a:xfrm>
            <a:off x="810673" y="4236720"/>
            <a:ext cx="432225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273"/>
                </a:solidFill>
                <a:latin typeface="Be Vietnam Pro" pitchFamily="34" charset="0"/>
                <a:ea typeface="Be Vietnam Pro" pitchFamily="34" charset="-122"/>
                <a:cs typeface="Be Vietnam Pro" pitchFamily="34" charset="-120"/>
              </a:rPr>
              <a:t>Theo Martin Fowler – The Practical Test Pyramid</a:t>
            </a:r>
            <a:endParaRPr lang="en-US" sz="1200" dirty="0"/>
          </a:p>
        </p:txBody>
      </p:sp>
      <p:sp>
        <p:nvSpPr>
          <p:cNvPr id="14" name="Text 12"/>
          <p:cNvSpPr/>
          <p:nvPr/>
        </p:nvSpPr>
        <p:spPr>
          <a:xfrm>
            <a:off x="5537200" y="1882141"/>
            <a:ext cx="60172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Không nên tự động khi:</a:t>
            </a:r>
            <a:endParaRPr lang="en-US" sz="1600" dirty="0"/>
          </a:p>
        </p:txBody>
      </p:sp>
      <p:sp>
        <p:nvSpPr>
          <p:cNvPr id="15" name="Text 13"/>
          <p:cNvSpPr/>
          <p:nvPr/>
        </p:nvSpPr>
        <p:spPr>
          <a:xfrm>
            <a:off x="5601208" y="2278380"/>
            <a:ext cx="5945632" cy="1163320"/>
          </a:xfrm>
          <a:prstGeom prst="rect">
            <a:avLst/>
          </a:prstGeom>
          <a:noFill/>
          <a:ln/>
        </p:spPr>
        <p:txBody>
          <a:bodyPr wrap="square" lIns="0" tIns="0" rIns="0" bIns="0" rtlCol="0" anchor="t">
            <a:normAutofit/>
          </a:bodyPr>
          <a:lstStyle/>
          <a:p>
            <a:pPr algn="l" marL="189992" indent="-189992">
              <a:lnSpc>
                <a:spcPts val="2240"/>
              </a:lnSpc>
              <a:buSzPct val="100000"/>
              <a:buChar char="•"/>
            </a:pPr>
            <a:r>
              <a:rPr lang="en-US" sz="1600" dirty="0">
                <a:solidFill>
                  <a:srgbClr val="3D4658"/>
                </a:solidFill>
                <a:latin typeface="Be Vietnam Pro" pitchFamily="34" charset="0"/>
                <a:ea typeface="Be Vietnam Pro" pitchFamily="34" charset="-122"/>
                <a:cs typeface="Be Vietnam Pro" pitchFamily="34" charset="-120"/>
              </a:rPr>
              <a:t>Giao diện còn thay đổi liên tục, test sẽ vỡ theo</a:t>
            </a:r>
            <a:endParaRPr lang="en-US" sz="1600" dirty="0"/>
          </a:p>
          <a:p>
            <a:pPr algn="l" marL="189992" indent="-189992">
              <a:lnSpc>
                <a:spcPts val="2240"/>
              </a:lnSpc>
              <a:buSzPct val="100000"/>
              <a:buChar char="•"/>
            </a:pPr>
            <a:r>
              <a:rPr lang="en-US" sz="1600" dirty="0">
                <a:solidFill>
                  <a:srgbClr val="3D4658"/>
                </a:solidFill>
                <a:latin typeface="Be Vietnam Pro" pitchFamily="34" charset="0"/>
                <a:ea typeface="Be Vietnam Pro" pitchFamily="34" charset="-122"/>
                <a:cs typeface="Be Vietnam Pro" pitchFamily="34" charset="-120"/>
              </a:rPr>
              <a:t>Kịch bản chỉ cần kiểm tra một lần</a:t>
            </a:r>
            <a:endParaRPr lang="en-US" sz="1600" dirty="0"/>
          </a:p>
          <a:p>
            <a:pPr algn="l" marL="189992" indent="-189992">
              <a:lnSpc>
                <a:spcPts val="2240"/>
              </a:lnSpc>
              <a:buSzPct val="100000"/>
              <a:buChar char="•"/>
            </a:pPr>
            <a:r>
              <a:rPr lang="en-US" sz="1600" dirty="0">
                <a:solidFill>
                  <a:srgbClr val="3D4658"/>
                </a:solidFill>
                <a:latin typeface="Be Vietnam Pro" pitchFamily="34" charset="0"/>
                <a:ea typeface="Be Vietnam Pro" pitchFamily="34" charset="-122"/>
                <a:cs typeface="Be Vietnam Pro" pitchFamily="34" charset="-120"/>
              </a:rPr>
              <a:t>Cần cảm nhận của con người: bố cục, màu sắc, dễ dùng</a:t>
            </a:r>
            <a:endParaRPr lang="en-US" sz="1600" dirty="0"/>
          </a:p>
          <a:p>
            <a:pPr algn="l" marL="189992" indent="-189992">
              <a:lnSpc>
                <a:spcPts val="2240"/>
              </a:lnSpc>
              <a:buSzPct val="100000"/>
              <a:buChar char="•"/>
            </a:pPr>
            <a:r>
              <a:rPr lang="en-US" sz="1600" dirty="0">
                <a:solidFill>
                  <a:srgbClr val="3D4658"/>
                </a:solidFill>
                <a:latin typeface="Be Vietnam Pro" pitchFamily="34" charset="0"/>
                <a:ea typeface="Be Vietnam Pro" pitchFamily="34" charset="-122"/>
                <a:cs typeface="Be Vietnam Pro" pitchFamily="34" charset="-120"/>
              </a:rPr>
              <a:t>Kiểm thử khám phá, đi tìm lỗi bất ngờ</a:t>
            </a:r>
            <a:endParaRPr lang="en-US" sz="1600" dirty="0"/>
          </a:p>
        </p:txBody>
      </p:sp>
      <p:sp>
        <p:nvSpPr>
          <p:cNvPr id="16" name="Text 14"/>
          <p:cNvSpPr/>
          <p:nvPr/>
        </p:nvSpPr>
        <p:spPr>
          <a:xfrm>
            <a:off x="5537200" y="3568700"/>
            <a:ext cx="5842000" cy="873760"/>
          </a:xfrm>
          <a:prstGeom prst="roundRect">
            <a:avLst>
              <a:gd name="adj" fmla="val 5814"/>
            </a:avLst>
          </a:prstGeom>
          <a:solidFill>
            <a:srgbClr val="FBF7F2"/>
          </a:solidFill>
          <a:ln/>
        </p:spPr>
        <p:txBody>
          <a:bodyPr wrap="square" lIns="223881" tIns="137521" rIns="26320" bIns="112121" rtlCol="0" anchor="t">
            <a:normAutofit/>
          </a:bodyPr>
          <a:lstStyle/>
          <a:p>
            <a:pPr algn="l" indent="0" marL="0">
              <a:lnSpc>
                <a:spcPts val="2240"/>
              </a:lnSpc>
              <a:buNone/>
            </a:pPr>
            <a:r>
              <a:rPr lang="en-US" sz="1600" b="1" dirty="0">
                <a:solidFill>
                  <a:srgbClr val="14213D"/>
                </a:solidFill>
                <a:latin typeface="Be Vietnam Pro" pitchFamily="34" charset="0"/>
                <a:ea typeface="Be Vietnam Pro" pitchFamily="34" charset="-122"/>
                <a:cs typeface="Be Vietnam Pro" pitchFamily="34" charset="-120"/>
              </a:rPr>
              <a:t>Test UI nên ít và có chọn lọc: chỉ cho luồng quan trọng như Đăng nhập.</a:t>
            </a:r>
            <a:endParaRPr lang="en-US" sz="1600" dirty="0"/>
          </a:p>
        </p:txBody>
      </p:sp>
      <p:sp>
        <p:nvSpPr>
          <p:cNvPr id="17" name="Shape 15"/>
          <p:cNvSpPr/>
          <p:nvPr/>
        </p:nvSpPr>
        <p:spPr>
          <a:xfrm>
            <a:off x="5537200" y="3568700"/>
            <a:ext cx="5842000" cy="873760"/>
          </a:xfrm>
          <a:custGeom>
            <a:avLst/>
            <a:gdLst/>
            <a:ahLst/>
            <a:cxnLst/>
            <a:rect l="l" t="t" r="r" b="b"/>
            <a:pathLst>
              <a:path w="5842000" h="873760">
                <a:moveTo>
                  <a:pt x="50800" y="873760"/>
                </a:moveTo>
                <a:lnTo>
                  <a:pt x="50800" y="873760"/>
                </a:lnTo>
                <a:arcTo hR="50800" wR="50800" stAng="5400000" swAng="5400000"/>
                <a:lnTo>
                  <a:pt x="0" y="50800"/>
                </a:lnTo>
                <a:arcTo hR="50800" wR="50800" stAng="10800000" swAng="5400000"/>
                <a:lnTo>
                  <a:pt x="50800" y="0"/>
                </a:lnTo>
                <a:arcTo hR="50800" wR="12700" stAng="16200000" swAng="-5400000"/>
                <a:lnTo>
                  <a:pt x="38100" y="822960"/>
                </a:lnTo>
                <a:arcTo hR="50800" wR="12700" stAng="10800000" swAng="-5400000"/>
                <a:close/>
              </a:path>
            </a:pathLst>
          </a:custGeom>
          <a:solidFill>
            <a:srgbClr val="A84B17"/>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B17"/>
                </a:solidFill>
                <a:latin typeface="Be Vietnam Pro" pitchFamily="34" charset="0"/>
                <a:ea typeface="Be Vietnam Pro" pitchFamily="34" charset="-122"/>
                <a:cs typeface="Be Vietnam Pro" pitchFamily="34" charset="-120"/>
              </a:rPr>
              <a:t>03 · CÁC CÁCH TIẾP CẬN</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Be Vietnam Pro" pitchFamily="34" charset="0"/>
                <a:ea typeface="Be Vietnam Pro" pitchFamily="34" charset="-122"/>
                <a:cs typeface="Be Vietnam Pro" pitchFamily="34" charset="-120"/>
              </a:rPr>
              <a:t>Ba thành phần của Selenium</a:t>
            </a:r>
            <a:endParaRPr lang="en-US" sz="3200" dirty="0"/>
          </a:p>
        </p:txBody>
      </p:sp>
      <p:sp>
        <p:nvSpPr>
          <p:cNvPr id="4" name="Shape 2"/>
          <p:cNvSpPr/>
          <p:nvPr/>
        </p:nvSpPr>
        <p:spPr>
          <a:xfrm>
            <a:off x="815975" y="1877695"/>
            <a:ext cx="3373517" cy="2987040"/>
          </a:xfrm>
          <a:prstGeom prst="roundRect">
            <a:avLst>
              <a:gd name="adj" fmla="val 3295"/>
            </a:avLst>
          </a:prstGeom>
          <a:solidFill>
            <a:srgbClr val="FDFCF9"/>
          </a:solidFill>
          <a:ln w="6350">
            <a:solidFill>
              <a:srgbClr val="E2DFD6"/>
            </a:solidFill>
            <a:prstDash val="solid"/>
          </a:ln>
        </p:spPr>
      </p:sp>
      <p:sp>
        <p:nvSpPr>
          <p:cNvPr id="5" name="Text 3"/>
          <p:cNvSpPr/>
          <p:nvPr/>
        </p:nvSpPr>
        <p:spPr>
          <a:xfrm>
            <a:off x="1071880" y="2133600"/>
            <a:ext cx="294755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273"/>
                </a:solidFill>
                <a:latin typeface="Be Vietnam Pro" pitchFamily="34" charset="0"/>
                <a:ea typeface="Be Vietnam Pro" pitchFamily="34" charset="-122"/>
                <a:cs typeface="Be Vietnam Pro" pitchFamily="34" charset="-120"/>
              </a:rPr>
              <a:t>GHI LẠI &amp; PHÁT LẠI</a:t>
            </a:r>
            <a:endParaRPr lang="en-US" sz="1200" dirty="0"/>
          </a:p>
        </p:txBody>
      </p:sp>
      <p:sp>
        <p:nvSpPr>
          <p:cNvPr id="6" name="Text 4"/>
          <p:cNvSpPr/>
          <p:nvPr/>
        </p:nvSpPr>
        <p:spPr>
          <a:xfrm>
            <a:off x="1071880" y="2448561"/>
            <a:ext cx="294755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Selenium IDE</a:t>
            </a:r>
            <a:endParaRPr lang="en-US" sz="2200" dirty="0"/>
          </a:p>
        </p:txBody>
      </p:sp>
      <p:sp>
        <p:nvSpPr>
          <p:cNvPr id="7" name="Text 5"/>
          <p:cNvSpPr/>
          <p:nvPr/>
        </p:nvSpPr>
        <p:spPr>
          <a:xfrm>
            <a:off x="1071880" y="2885441"/>
            <a:ext cx="2947558"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Tiện ích trình duyệt: bấm ghi, thao tác, rồi phát lại. Không cần viết code.</a:t>
            </a:r>
            <a:endParaRPr lang="en-US" sz="1600" dirty="0"/>
          </a:p>
        </p:txBody>
      </p:sp>
      <p:pic>
        <p:nvPicPr>
          <p:cNvPr id="8" name="Image 0" descr="line">    </p:cNvPr>
          <p:cNvPicPr>
            <a:picLocks noChangeAspect="1"/>
          </p:cNvPicPr>
          <p:nvPr/>
        </p:nvPicPr>
        <p:blipFill>
          <a:blip r:embed="rId1"/>
          <a:srcRect l="0" r="0" t="-39" b="-39"/>
          <a:stretch/>
        </p:blipFill>
        <p:spPr>
          <a:xfrm>
            <a:off x="1071880" y="3840480"/>
            <a:ext cx="2861707" cy="6350"/>
          </a:xfrm>
          <a:prstGeom prst="rect">
            <a:avLst/>
          </a:prstGeom>
        </p:spPr>
      </p:pic>
      <p:sp>
        <p:nvSpPr>
          <p:cNvPr id="9" name="Text 6"/>
          <p:cNvSpPr/>
          <p:nvPr/>
        </p:nvSpPr>
        <p:spPr>
          <a:xfrm>
            <a:off x="1071880" y="3948430"/>
            <a:ext cx="294755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658"/>
                </a:solidFill>
                <a:latin typeface="Be Vietnam Pro" pitchFamily="34" charset="0"/>
                <a:ea typeface="Be Vietnam Pro" pitchFamily="34" charset="-122"/>
                <a:cs typeface="Be Vietnam Pro" pitchFamily="34" charset="-120"/>
              </a:rPr>
              <a:t>Hợp khi:</a:t>
            </a:r>
            <a:r>
              <a:rPr lang="en-US" sz="1200" dirty="0">
                <a:solidFill>
                  <a:srgbClr val="3D4658"/>
                </a:solidFill>
                <a:latin typeface="Be Vietnam Pro" pitchFamily="34" charset="0"/>
                <a:ea typeface="Be Vietnam Pro" pitchFamily="34" charset="-122"/>
                <a:cs typeface="Be Vietnam Pro" pitchFamily="34" charset="-120"/>
              </a:rPr>
              <a:t> thử nhanh, làm quen. Khó bảo trì khi test nhiều.</a:t>
            </a:r>
            <a:endParaRPr lang="en-US" sz="1200" dirty="0"/>
          </a:p>
        </p:txBody>
      </p:sp>
      <p:sp>
        <p:nvSpPr>
          <p:cNvPr id="10" name="Shape 7"/>
          <p:cNvSpPr/>
          <p:nvPr/>
        </p:nvSpPr>
        <p:spPr>
          <a:xfrm>
            <a:off x="4405392" y="1884045"/>
            <a:ext cx="3381216" cy="2974340"/>
          </a:xfrm>
          <a:prstGeom prst="roundRect">
            <a:avLst>
              <a:gd name="adj" fmla="val 3096"/>
            </a:avLst>
          </a:prstGeom>
          <a:solidFill>
            <a:srgbClr val="FDFCF9"/>
          </a:solidFill>
          <a:ln w="19050">
            <a:solidFill>
              <a:srgbClr val="A84B17"/>
            </a:solidFill>
            <a:prstDash val="solid"/>
          </a:ln>
        </p:spPr>
      </p:sp>
      <p:sp>
        <p:nvSpPr>
          <p:cNvPr id="11" name="Text 8"/>
          <p:cNvSpPr/>
          <p:nvPr/>
        </p:nvSpPr>
        <p:spPr>
          <a:xfrm>
            <a:off x="4665107" y="2143761"/>
            <a:ext cx="2947640" cy="4521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B17"/>
                </a:solidFill>
                <a:latin typeface="Be Vietnam Pro" pitchFamily="34" charset="0"/>
                <a:ea typeface="Be Vietnam Pro" pitchFamily="34" charset="-122"/>
                <a:cs typeface="Be Vietnam Pro" pitchFamily="34" charset="-120"/>
              </a:rPr>
              <a:t>VIẾT TEST BẰNG CODE · TEAM DÙNG</a:t>
            </a:r>
            <a:endParaRPr lang="en-US" sz="1200" dirty="0"/>
          </a:p>
        </p:txBody>
      </p:sp>
      <p:sp>
        <p:nvSpPr>
          <p:cNvPr id="12" name="Text 9"/>
          <p:cNvSpPr/>
          <p:nvPr/>
        </p:nvSpPr>
        <p:spPr>
          <a:xfrm>
            <a:off x="4665107" y="2672080"/>
            <a:ext cx="294764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WebDriver</a:t>
            </a:r>
            <a:endParaRPr lang="en-US" sz="2200" dirty="0"/>
          </a:p>
        </p:txBody>
      </p:sp>
      <p:sp>
        <p:nvSpPr>
          <p:cNvPr id="13" name="Text 10"/>
          <p:cNvSpPr/>
          <p:nvPr/>
        </p:nvSpPr>
        <p:spPr>
          <a:xfrm>
            <a:off x="4665107" y="3108961"/>
            <a:ext cx="294764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Thư viện cho Python, Java… gửi lệnh qua driver để điều khiển trình duyệt thật.</a:t>
            </a:r>
            <a:endParaRPr lang="en-US" sz="1600" dirty="0"/>
          </a:p>
        </p:txBody>
      </p:sp>
      <p:pic>
        <p:nvPicPr>
          <p:cNvPr id="14" name="Image 1" descr="line">    </p:cNvPr>
          <p:cNvPicPr>
            <a:picLocks noChangeAspect="1"/>
          </p:cNvPicPr>
          <p:nvPr/>
        </p:nvPicPr>
        <p:blipFill>
          <a:blip r:embed="rId2"/>
          <a:srcRect l="0" r="0" t="-39" b="-39"/>
          <a:stretch/>
        </p:blipFill>
        <p:spPr>
          <a:xfrm>
            <a:off x="4665107" y="4064000"/>
            <a:ext cx="2861786" cy="6350"/>
          </a:xfrm>
          <a:prstGeom prst="rect">
            <a:avLst/>
          </a:prstGeom>
        </p:spPr>
      </p:pic>
      <p:sp>
        <p:nvSpPr>
          <p:cNvPr id="15" name="Text 11"/>
          <p:cNvSpPr/>
          <p:nvPr/>
        </p:nvSpPr>
        <p:spPr>
          <a:xfrm>
            <a:off x="4665107" y="4171950"/>
            <a:ext cx="294764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658"/>
                </a:solidFill>
                <a:latin typeface="Be Vietnam Pro" pitchFamily="34" charset="0"/>
                <a:ea typeface="Be Vietnam Pro" pitchFamily="34" charset="-122"/>
                <a:cs typeface="Be Vietnam Pro" pitchFamily="34" charset="-120"/>
              </a:rPr>
              <a:t>Hợp khi:</a:t>
            </a:r>
            <a:r>
              <a:rPr lang="en-US" sz="1200" dirty="0">
                <a:solidFill>
                  <a:srgbClr val="3D4658"/>
                </a:solidFill>
                <a:latin typeface="Be Vietnam Pro" pitchFamily="34" charset="0"/>
                <a:ea typeface="Be Vietnam Pro" pitchFamily="34" charset="-122"/>
                <a:cs typeface="Be Vietnam Pro" pitchFamily="34" charset="-120"/>
              </a:rPr>
              <a:t> bộ test lâu dài, cần logic, chạy được trong CI.</a:t>
            </a:r>
            <a:endParaRPr lang="en-US" sz="1200" dirty="0"/>
          </a:p>
        </p:txBody>
      </p:sp>
      <p:sp>
        <p:nvSpPr>
          <p:cNvPr id="16" name="Shape 12"/>
          <p:cNvSpPr/>
          <p:nvPr/>
        </p:nvSpPr>
        <p:spPr>
          <a:xfrm>
            <a:off x="8002508" y="1877695"/>
            <a:ext cx="3373517" cy="2987040"/>
          </a:xfrm>
          <a:prstGeom prst="roundRect">
            <a:avLst>
              <a:gd name="adj" fmla="val 3295"/>
            </a:avLst>
          </a:prstGeom>
          <a:solidFill>
            <a:srgbClr val="FDFCF9"/>
          </a:solidFill>
          <a:ln w="6350">
            <a:solidFill>
              <a:srgbClr val="E2DFD6"/>
            </a:solidFill>
            <a:prstDash val="solid"/>
          </a:ln>
        </p:spPr>
      </p:sp>
      <p:sp>
        <p:nvSpPr>
          <p:cNvPr id="17" name="Text 13"/>
          <p:cNvSpPr/>
          <p:nvPr/>
        </p:nvSpPr>
        <p:spPr>
          <a:xfrm>
            <a:off x="8258413" y="2133600"/>
            <a:ext cx="294755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A6273"/>
                </a:solidFill>
                <a:latin typeface="Be Vietnam Pro" pitchFamily="34" charset="0"/>
                <a:ea typeface="Be Vietnam Pro" pitchFamily="34" charset="-122"/>
                <a:cs typeface="Be Vietnam Pro" pitchFamily="34" charset="-120"/>
              </a:rPr>
              <a:t>CHẠY SONG SONG</a:t>
            </a:r>
            <a:endParaRPr lang="en-US" sz="1200" dirty="0"/>
          </a:p>
        </p:txBody>
      </p:sp>
      <p:sp>
        <p:nvSpPr>
          <p:cNvPr id="18" name="Text 14"/>
          <p:cNvSpPr/>
          <p:nvPr/>
        </p:nvSpPr>
        <p:spPr>
          <a:xfrm>
            <a:off x="8258413" y="2448561"/>
            <a:ext cx="294755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Be Vietnam Pro" pitchFamily="34" charset="0"/>
                <a:ea typeface="Be Vietnam Pro" pitchFamily="34" charset="-122"/>
                <a:cs typeface="Be Vietnam Pro" pitchFamily="34" charset="-120"/>
              </a:rPr>
              <a:t>Selenium Grid</a:t>
            </a:r>
            <a:endParaRPr lang="en-US" sz="2200" dirty="0"/>
          </a:p>
        </p:txBody>
      </p:sp>
      <p:sp>
        <p:nvSpPr>
          <p:cNvPr id="19" name="Text 15"/>
          <p:cNvSpPr/>
          <p:nvPr/>
        </p:nvSpPr>
        <p:spPr>
          <a:xfrm>
            <a:off x="8258413" y="2885441"/>
            <a:ext cx="2947558"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Phân phối test WebDriver ra nhiều máy, nhiều trình duyệt, chạy cùng lúc.</a:t>
            </a:r>
            <a:endParaRPr lang="en-US" sz="1600" dirty="0"/>
          </a:p>
        </p:txBody>
      </p:sp>
      <p:pic>
        <p:nvPicPr>
          <p:cNvPr id="20" name="Image 2" descr="line">    </p:cNvPr>
          <p:cNvPicPr>
            <a:picLocks noChangeAspect="1"/>
          </p:cNvPicPr>
          <p:nvPr/>
        </p:nvPicPr>
        <p:blipFill>
          <a:blip r:embed="rId3"/>
          <a:srcRect l="0" r="0" t="-39" b="-39"/>
          <a:stretch/>
        </p:blipFill>
        <p:spPr>
          <a:xfrm>
            <a:off x="8258413" y="3840480"/>
            <a:ext cx="2861707" cy="6350"/>
          </a:xfrm>
          <a:prstGeom prst="rect">
            <a:avLst/>
          </a:prstGeom>
        </p:spPr>
      </p:pic>
      <p:sp>
        <p:nvSpPr>
          <p:cNvPr id="21" name="Text 16"/>
          <p:cNvSpPr/>
          <p:nvPr/>
        </p:nvSpPr>
        <p:spPr>
          <a:xfrm>
            <a:off x="8258413" y="3948430"/>
            <a:ext cx="294755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658"/>
                </a:solidFill>
                <a:latin typeface="Be Vietnam Pro" pitchFamily="34" charset="0"/>
                <a:ea typeface="Be Vietnam Pro" pitchFamily="34" charset="-122"/>
                <a:cs typeface="Be Vietnam Pro" pitchFamily="34" charset="-120"/>
              </a:rPr>
              <a:t>Hợp khi:</a:t>
            </a:r>
            <a:r>
              <a:rPr lang="en-US" sz="1200" dirty="0">
                <a:solidFill>
                  <a:srgbClr val="3D4658"/>
                </a:solidFill>
                <a:latin typeface="Be Vietnam Pro" pitchFamily="34" charset="0"/>
                <a:ea typeface="Be Vietnam Pro" pitchFamily="34" charset="-122"/>
                <a:cs typeface="Be Vietnam Pro" pitchFamily="34" charset="-120"/>
              </a:rPr>
              <a:t> bộ test lớn, cần chạy nhanh trên nhiều môi trường.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B17"/>
                </a:solidFill>
                <a:latin typeface="Be Vietnam Pro" pitchFamily="34" charset="0"/>
                <a:ea typeface="Be Vietnam Pro" pitchFamily="34" charset="-122"/>
                <a:cs typeface="Be Vietnam Pro" pitchFamily="34" charset="-120"/>
              </a:rPr>
              <a:t>04 · KIẾN TRÚC</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Be Vietnam Pro" pitchFamily="34" charset="0"/>
                <a:ea typeface="Be Vietnam Pro" pitchFamily="34" charset="-122"/>
                <a:cs typeface="Be Vietnam Pro" pitchFamily="34" charset="-120"/>
              </a:rPr>
              <a:t>Đường đi của một lệnh Selenium</a:t>
            </a:r>
            <a:endParaRPr lang="en-US" sz="3200" dirty="0"/>
          </a:p>
        </p:txBody>
      </p:sp>
      <p:sp>
        <p:nvSpPr>
          <p:cNvPr id="4" name="Shape 2"/>
          <p:cNvSpPr/>
          <p:nvPr/>
        </p:nvSpPr>
        <p:spPr>
          <a:xfrm>
            <a:off x="812800" y="1823721"/>
            <a:ext cx="2413000" cy="1336040"/>
          </a:xfrm>
          <a:prstGeom prst="roundRect">
            <a:avLst>
              <a:gd name="adj" fmla="val 7605"/>
            </a:avLst>
          </a:prstGeom>
          <a:solidFill>
            <a:srgbClr val="14213D"/>
          </a:solidFill>
          <a:ln/>
        </p:spPr>
      </p:sp>
      <p:sp>
        <p:nvSpPr>
          <p:cNvPr id="5" name="Text 3"/>
          <p:cNvSpPr/>
          <p:nvPr/>
        </p:nvSpPr>
        <p:spPr>
          <a:xfrm>
            <a:off x="990600" y="2001521"/>
            <a:ext cx="211912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5F0"/>
                </a:solidFill>
                <a:latin typeface="Be Vietnam Pro" pitchFamily="34" charset="0"/>
                <a:ea typeface="Be Vietnam Pro" pitchFamily="34" charset="-122"/>
                <a:cs typeface="Be Vietnam Pro" pitchFamily="34" charset="-120"/>
              </a:rPr>
              <a:t>Code kiểm thử</a:t>
            </a:r>
            <a:endParaRPr lang="en-US" sz="1600" dirty="0"/>
          </a:p>
        </p:txBody>
      </p:sp>
      <p:sp>
        <p:nvSpPr>
          <p:cNvPr id="6" name="Text 4"/>
          <p:cNvSpPr/>
          <p:nvPr/>
        </p:nvSpPr>
        <p:spPr>
          <a:xfrm>
            <a:off x="990600" y="2321561"/>
            <a:ext cx="21191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3"/>
                </a:solidFill>
                <a:latin typeface="Be Vietnam Pro" pitchFamily="34" charset="0"/>
                <a:ea typeface="Be Vietnam Pro" pitchFamily="34" charset="-122"/>
                <a:cs typeface="Be Vietnam Pro" pitchFamily="34" charset="-120"/>
              </a:rPr>
              <a:t>Python + unittest + thư viện selenium</a:t>
            </a:r>
            <a:endParaRPr lang="en-US" sz="1200" dirty="0"/>
          </a:p>
        </p:txBody>
      </p:sp>
      <p:sp>
        <p:nvSpPr>
          <p:cNvPr id="7" name="Text 5"/>
          <p:cNvSpPr/>
          <p:nvPr/>
        </p:nvSpPr>
        <p:spPr>
          <a:xfrm>
            <a:off x="3450344" y="1905000"/>
            <a:ext cx="1214533"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84B17"/>
                </a:solidFill>
                <a:latin typeface="Be Vietnam Pro" pitchFamily="34" charset="0"/>
                <a:ea typeface="Be Vietnam Pro" pitchFamily="34" charset="-122"/>
                <a:cs typeface="Be Vietnam Pro" pitchFamily="34" charset="-120"/>
              </a:rPr>
              <a:t>HTTP + JSON</a:t>
            </a:r>
            <a:endParaRPr lang="en-US" sz="1200" dirty="0"/>
          </a:p>
        </p:txBody>
      </p:sp>
      <p:pic>
        <p:nvPicPr>
          <p:cNvPr id="8" name="Image 0" descr="arrow-right">    </p:cNvPr>
          <p:cNvPicPr>
            <a:picLocks noChangeAspect="1"/>
          </p:cNvPicPr>
          <p:nvPr/>
        </p:nvPicPr>
        <p:blipFill>
          <a:blip r:embed="rId1"/>
          <a:srcRect l="0" r="0" t="0" b="0"/>
          <a:stretch/>
        </p:blipFill>
        <p:spPr>
          <a:xfrm>
            <a:off x="3613150" y="2181861"/>
            <a:ext cx="889000" cy="406400"/>
          </a:xfrm>
          <a:prstGeom prst="rect">
            <a:avLst/>
          </a:prstGeom>
        </p:spPr>
      </p:pic>
      <p:sp>
        <p:nvSpPr>
          <p:cNvPr id="9" name="Text 6"/>
          <p:cNvSpPr/>
          <p:nvPr/>
        </p:nvSpPr>
        <p:spPr>
          <a:xfrm>
            <a:off x="3200400" y="2651761"/>
            <a:ext cx="171450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8"/>
                </a:solidFill>
                <a:latin typeface="Be Vietnam Pro" pitchFamily="34" charset="0"/>
                <a:ea typeface="Be Vietnam Pro" pitchFamily="34" charset="-122"/>
                <a:cs typeface="Be Vietnam Pro" pitchFamily="34" charset="-120"/>
              </a:rPr>
              <a:t>chuẩn W3C WebDriver</a:t>
            </a:r>
            <a:endParaRPr lang="en-US" sz="1200" dirty="0"/>
          </a:p>
        </p:txBody>
      </p:sp>
      <p:sp>
        <p:nvSpPr>
          <p:cNvPr id="10" name="Shape 7"/>
          <p:cNvSpPr/>
          <p:nvPr/>
        </p:nvSpPr>
        <p:spPr>
          <a:xfrm>
            <a:off x="4895850" y="1830071"/>
            <a:ext cx="2400300" cy="1323340"/>
          </a:xfrm>
          <a:prstGeom prst="roundRect">
            <a:avLst>
              <a:gd name="adj" fmla="val 7198"/>
            </a:avLst>
          </a:prstGeom>
          <a:solidFill>
            <a:srgbClr val="FDFCF9"/>
          </a:solidFill>
          <a:ln w="12700">
            <a:solidFill>
              <a:srgbClr val="14213D"/>
            </a:solidFill>
            <a:prstDash val="solid"/>
          </a:ln>
        </p:spPr>
      </p:sp>
      <p:sp>
        <p:nvSpPr>
          <p:cNvPr id="11" name="Text 8"/>
          <p:cNvSpPr/>
          <p:nvPr/>
        </p:nvSpPr>
        <p:spPr>
          <a:xfrm>
            <a:off x="5077460" y="2011682"/>
            <a:ext cx="209819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ChromeDriver</a:t>
            </a:r>
            <a:endParaRPr lang="en-US" sz="1600" dirty="0"/>
          </a:p>
        </p:txBody>
      </p:sp>
      <p:sp>
        <p:nvSpPr>
          <p:cNvPr id="12" name="Text 9"/>
          <p:cNvSpPr/>
          <p:nvPr/>
        </p:nvSpPr>
        <p:spPr>
          <a:xfrm>
            <a:off x="5077460" y="2331721"/>
            <a:ext cx="209819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8"/>
                </a:solidFill>
                <a:latin typeface="Be Vietnam Pro" pitchFamily="34" charset="0"/>
                <a:ea typeface="Be Vietnam Pro" pitchFamily="34" charset="-122"/>
                <a:cs typeface="Be Vietnam Pro" pitchFamily="34" charset="-120"/>
              </a:rPr>
              <a:t>Chương trình trung gian: nhận lệnh rồi điều khiển Chrome</a:t>
            </a:r>
            <a:endParaRPr lang="en-US" sz="1200" dirty="0"/>
          </a:p>
        </p:txBody>
      </p:sp>
      <p:sp>
        <p:nvSpPr>
          <p:cNvPr id="13" name="Text 10"/>
          <p:cNvSpPr/>
          <p:nvPr/>
        </p:nvSpPr>
        <p:spPr>
          <a:xfrm>
            <a:off x="7799451" y="2011682"/>
            <a:ext cx="669798"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F6FB0"/>
                </a:solidFill>
                <a:latin typeface="Be Vietnam Pro" pitchFamily="34" charset="0"/>
                <a:ea typeface="Be Vietnam Pro" pitchFamily="34" charset="-122"/>
                <a:cs typeface="Be Vietnam Pro" pitchFamily="34" charset="-120"/>
              </a:rPr>
              <a:t>Ra lệnh</a:t>
            </a:r>
            <a:endParaRPr lang="en-US" sz="1200" dirty="0"/>
          </a:p>
        </p:txBody>
      </p:sp>
      <p:pic>
        <p:nvPicPr>
          <p:cNvPr id="14" name="Image 1" descr="arrow-right">    </p:cNvPr>
          <p:cNvPicPr>
            <a:picLocks noChangeAspect="1"/>
          </p:cNvPicPr>
          <p:nvPr/>
        </p:nvPicPr>
        <p:blipFill>
          <a:blip r:embed="rId2"/>
          <a:srcRect l="0" r="0" t="0" b="0"/>
          <a:stretch/>
        </p:blipFill>
        <p:spPr>
          <a:xfrm>
            <a:off x="7689850" y="2288539"/>
            <a:ext cx="889000" cy="406400"/>
          </a:xfrm>
          <a:prstGeom prst="rect">
            <a:avLst/>
          </a:prstGeom>
        </p:spPr>
      </p:pic>
      <p:sp>
        <p:nvSpPr>
          <p:cNvPr id="15" name="Text 11"/>
          <p:cNvSpPr/>
          <p:nvPr/>
        </p:nvSpPr>
        <p:spPr>
          <a:xfrm>
            <a:off x="7302500" y="2758439"/>
            <a:ext cx="16637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4658"/>
                </a:solidFill>
                <a:latin typeface="Be Vietnam Pro" pitchFamily="34" charset="0"/>
                <a:ea typeface="Be Vietnam Pro" pitchFamily="34" charset="-122"/>
                <a:cs typeface="Be Vietnam Pro" pitchFamily="34" charset="-120"/>
              </a:rPr>
              <a:t>điều khiển trực tiếp</a:t>
            </a:r>
            <a:endParaRPr lang="en-US" sz="1200" dirty="0"/>
          </a:p>
        </p:txBody>
      </p:sp>
      <p:sp>
        <p:nvSpPr>
          <p:cNvPr id="16" name="Shape 12"/>
          <p:cNvSpPr/>
          <p:nvPr/>
        </p:nvSpPr>
        <p:spPr>
          <a:xfrm>
            <a:off x="8972550" y="1830071"/>
            <a:ext cx="2400300" cy="1323340"/>
          </a:xfrm>
          <a:prstGeom prst="roundRect">
            <a:avLst>
              <a:gd name="adj" fmla="val 7198"/>
            </a:avLst>
          </a:prstGeom>
          <a:solidFill>
            <a:srgbClr val="FDFCF9"/>
          </a:solidFill>
          <a:ln w="12700">
            <a:solidFill>
              <a:srgbClr val="2F6FB0"/>
            </a:solidFill>
            <a:prstDash val="solid"/>
          </a:ln>
        </p:spPr>
      </p:sp>
      <p:sp>
        <p:nvSpPr>
          <p:cNvPr id="17" name="Text 13"/>
          <p:cNvSpPr/>
          <p:nvPr/>
        </p:nvSpPr>
        <p:spPr>
          <a:xfrm>
            <a:off x="9154160" y="2011682"/>
            <a:ext cx="22123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Trình duyệt Chrome</a:t>
            </a:r>
            <a:endParaRPr lang="en-US" sz="1600" dirty="0"/>
          </a:p>
        </p:txBody>
      </p:sp>
      <p:sp>
        <p:nvSpPr>
          <p:cNvPr id="18" name="Text 14"/>
          <p:cNvSpPr/>
          <p:nvPr/>
        </p:nvSpPr>
        <p:spPr>
          <a:xfrm>
            <a:off x="9154160" y="2331721"/>
            <a:ext cx="20981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8"/>
                </a:solidFill>
                <a:latin typeface="Be Vietnam Pro" pitchFamily="34" charset="0"/>
                <a:ea typeface="Be Vietnam Pro" pitchFamily="34" charset="-122"/>
                <a:cs typeface="Be Vietnam Pro" pitchFamily="34" charset="-120"/>
              </a:rPr>
              <a:t>Mở trang, gõ phím, bấm nút như người dùng thật</a:t>
            </a:r>
            <a:endParaRPr lang="en-US" sz="1200" dirty="0"/>
          </a:p>
        </p:txBody>
      </p:sp>
      <p:sp>
        <p:nvSpPr>
          <p:cNvPr id="19" name="Text 15"/>
          <p:cNvSpPr/>
          <p:nvPr/>
        </p:nvSpPr>
        <p:spPr>
          <a:xfrm>
            <a:off x="812800" y="3464561"/>
            <a:ext cx="110553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658"/>
                </a:solidFill>
                <a:latin typeface="Be Vietnam Pro" pitchFamily="34" charset="0"/>
                <a:ea typeface="Be Vietnam Pro" pitchFamily="34" charset="-122"/>
                <a:cs typeface="Be Vietnam Pro" pitchFamily="34" charset="-120"/>
              </a:rPr>
              <a:t>Ví dụ với lệnh</a:t>
            </a:r>
            <a:endParaRPr lang="en-US" sz="1200" dirty="0"/>
          </a:p>
        </p:txBody>
      </p:sp>
      <p:sp>
        <p:nvSpPr>
          <p:cNvPr id="20" name="Text 16"/>
          <p:cNvSpPr/>
          <p:nvPr/>
        </p:nvSpPr>
        <p:spPr>
          <a:xfrm>
            <a:off x="1918335" y="3413761"/>
            <a:ext cx="3037840" cy="314960"/>
          </a:xfrm>
          <a:prstGeom prst="roundRect">
            <a:avLst>
              <a:gd name="adj" fmla="val 16129"/>
            </a:avLst>
          </a:prstGeom>
          <a:solidFill>
            <a:srgbClr val="E2DFD6"/>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find_element(By.ID, "username")</a:t>
            </a:r>
            <a:endParaRPr lang="en-US" sz="1200" dirty="0"/>
          </a:p>
        </p:txBody>
      </p:sp>
      <p:sp>
        <p:nvSpPr>
          <p:cNvPr id="21" name="Shape 17"/>
          <p:cNvSpPr/>
          <p:nvPr/>
        </p:nvSpPr>
        <p:spPr>
          <a:xfrm>
            <a:off x="815975" y="3985896"/>
            <a:ext cx="3380264" cy="1675130"/>
          </a:xfrm>
          <a:prstGeom prst="roundRect">
            <a:avLst>
              <a:gd name="adj" fmla="val 5876"/>
            </a:avLst>
          </a:prstGeom>
          <a:solidFill>
            <a:srgbClr val="FDFCF9"/>
          </a:solidFill>
          <a:ln w="6350">
            <a:solidFill>
              <a:srgbClr val="E2DFD6"/>
            </a:solidFill>
            <a:prstDash val="solid"/>
          </a:ln>
        </p:spPr>
      </p:sp>
      <p:sp>
        <p:nvSpPr>
          <p:cNvPr id="22" name="Text 18"/>
          <p:cNvSpPr/>
          <p:nvPr/>
        </p:nvSpPr>
        <p:spPr>
          <a:xfrm>
            <a:off x="1021080" y="4191000"/>
            <a:ext cx="305915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84B17"/>
                </a:solidFill>
                <a:latin typeface="Be Vietnam Pro" pitchFamily="34" charset="0"/>
                <a:ea typeface="Be Vietnam Pro" pitchFamily="34" charset="-122"/>
                <a:cs typeface="Be Vietnam Pro" pitchFamily="34" charset="-120"/>
              </a:rPr>
              <a:t>1</a:t>
            </a:r>
            <a:endParaRPr lang="en-US" sz="2200" dirty="0"/>
          </a:p>
        </p:txBody>
      </p:sp>
      <p:sp>
        <p:nvSpPr>
          <p:cNvPr id="23" name="Text 19"/>
          <p:cNvSpPr/>
          <p:nvPr/>
        </p:nvSpPr>
        <p:spPr>
          <a:xfrm>
            <a:off x="1021080" y="4602482"/>
            <a:ext cx="3059155"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Python gửi lệnh “tìm phần tử” tới ChromeDriver qua HTTP.</a:t>
            </a:r>
            <a:endParaRPr lang="en-US" sz="1600" dirty="0"/>
          </a:p>
        </p:txBody>
      </p:sp>
      <p:sp>
        <p:nvSpPr>
          <p:cNvPr id="24" name="Shape 20"/>
          <p:cNvSpPr/>
          <p:nvPr/>
        </p:nvSpPr>
        <p:spPr>
          <a:xfrm>
            <a:off x="4405789" y="3985896"/>
            <a:ext cx="3380343" cy="1675130"/>
          </a:xfrm>
          <a:prstGeom prst="roundRect">
            <a:avLst>
              <a:gd name="adj" fmla="val 5876"/>
            </a:avLst>
          </a:prstGeom>
          <a:solidFill>
            <a:srgbClr val="FDFCF9"/>
          </a:solidFill>
          <a:ln w="6350">
            <a:solidFill>
              <a:srgbClr val="E2DFD6"/>
            </a:solidFill>
            <a:prstDash val="solid"/>
          </a:ln>
        </p:spPr>
      </p:sp>
      <p:sp>
        <p:nvSpPr>
          <p:cNvPr id="25" name="Text 21"/>
          <p:cNvSpPr/>
          <p:nvPr/>
        </p:nvSpPr>
        <p:spPr>
          <a:xfrm>
            <a:off x="4610894" y="4191000"/>
            <a:ext cx="305923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84B17"/>
                </a:solidFill>
                <a:latin typeface="Be Vietnam Pro" pitchFamily="34" charset="0"/>
                <a:ea typeface="Be Vietnam Pro" pitchFamily="34" charset="-122"/>
                <a:cs typeface="Be Vietnam Pro" pitchFamily="34" charset="-120"/>
              </a:rPr>
              <a:t>2</a:t>
            </a:r>
            <a:endParaRPr lang="en-US" sz="2200" dirty="0"/>
          </a:p>
        </p:txBody>
      </p:sp>
      <p:sp>
        <p:nvSpPr>
          <p:cNvPr id="26" name="Text 22"/>
          <p:cNvSpPr/>
          <p:nvPr/>
        </p:nvSpPr>
        <p:spPr>
          <a:xfrm>
            <a:off x="4610894" y="4602482"/>
            <a:ext cx="305923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ChromeDriver bảo Chrome tìm ô có id = “username”.</a:t>
            </a:r>
            <a:endParaRPr lang="en-US" sz="1600" dirty="0"/>
          </a:p>
        </p:txBody>
      </p:sp>
      <p:sp>
        <p:nvSpPr>
          <p:cNvPr id="27" name="Shape 23"/>
          <p:cNvSpPr/>
          <p:nvPr/>
        </p:nvSpPr>
        <p:spPr>
          <a:xfrm>
            <a:off x="7995682" y="3985896"/>
            <a:ext cx="3380343" cy="1675130"/>
          </a:xfrm>
          <a:prstGeom prst="roundRect">
            <a:avLst>
              <a:gd name="adj" fmla="val 5876"/>
            </a:avLst>
          </a:prstGeom>
          <a:solidFill>
            <a:srgbClr val="FDFCF9"/>
          </a:solidFill>
          <a:ln w="6350">
            <a:solidFill>
              <a:srgbClr val="E2DFD6"/>
            </a:solidFill>
            <a:prstDash val="solid"/>
          </a:ln>
        </p:spPr>
      </p:sp>
      <p:sp>
        <p:nvSpPr>
          <p:cNvPr id="28" name="Text 24"/>
          <p:cNvSpPr/>
          <p:nvPr/>
        </p:nvSpPr>
        <p:spPr>
          <a:xfrm>
            <a:off x="8200787" y="4191000"/>
            <a:ext cx="305923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A84B17"/>
                </a:solidFill>
                <a:latin typeface="Be Vietnam Pro" pitchFamily="34" charset="0"/>
                <a:ea typeface="Be Vietnam Pro" pitchFamily="34" charset="-122"/>
                <a:cs typeface="Be Vietnam Pro" pitchFamily="34" charset="-120"/>
              </a:rPr>
              <a:t>3</a:t>
            </a:r>
            <a:endParaRPr lang="en-US" sz="2200" dirty="0"/>
          </a:p>
        </p:txBody>
      </p:sp>
      <p:sp>
        <p:nvSpPr>
          <p:cNvPr id="29" name="Text 25"/>
          <p:cNvSpPr/>
          <p:nvPr/>
        </p:nvSpPr>
        <p:spPr>
          <a:xfrm>
            <a:off x="8200787" y="4602482"/>
            <a:ext cx="3059237"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658"/>
                </a:solidFill>
                <a:latin typeface="Be Vietnam Pro" pitchFamily="34" charset="0"/>
                <a:ea typeface="Be Vietnam Pro" pitchFamily="34" charset="-122"/>
                <a:cs typeface="Be Vietnam Pro" pitchFamily="34" charset="-120"/>
              </a:rPr>
              <a:t>Chrome trả kết quả; ChromeDriver gửi lại cho Python dạng JSON.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84B17"/>
                </a:solidFill>
                <a:latin typeface="Be Vietnam Pro" pitchFamily="34" charset="0"/>
                <a:ea typeface="Be Vietnam Pro" pitchFamily="34" charset="-122"/>
                <a:cs typeface="Be Vietnam Pro" pitchFamily="34" charset="-120"/>
              </a:rPr>
              <a:t>05 · BÀI KIỂM THỬ ĐĂNG NHẬP</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Be Vietnam Pro" pitchFamily="34" charset="0"/>
                <a:ea typeface="Be Vietnam Pro" pitchFamily="34" charset="-122"/>
                <a:cs typeface="Be Vietnam Pro" pitchFamily="34" charset="-120"/>
              </a:rPr>
              <a:t>Mỗi test UI có 3 bước</a:t>
            </a:r>
            <a:endParaRPr lang="en-US" sz="3200" dirty="0"/>
          </a:p>
        </p:txBody>
      </p:sp>
      <p:sp>
        <p:nvSpPr>
          <p:cNvPr id="4" name="Text 2"/>
          <p:cNvSpPr/>
          <p:nvPr/>
        </p:nvSpPr>
        <p:spPr>
          <a:xfrm>
            <a:off x="812800" y="1874521"/>
            <a:ext cx="7302500" cy="3937000"/>
          </a:xfrm>
          <a:prstGeom prst="roundRect">
            <a:avLst>
              <a:gd name="adj" fmla="val 2581"/>
            </a:avLst>
          </a:prstGeom>
          <a:solidFill>
            <a:srgbClr val="1B2333"/>
          </a:solidFill>
          <a:ln/>
        </p:spPr>
        <p:txBody>
          <a:bodyPr wrap="none" lIns="224242" tIns="224242" rIns="20407" bIns="198842" rtlCol="0" anchor="t">
            <a:normAutofit/>
          </a:bodyPr>
          <a:lstStyle/>
          <a:p>
            <a:pPr algn="l" indent="0" marL="0">
              <a:lnSpc>
                <a:spcPts val="1800"/>
              </a:lnSpc>
              <a:buNone/>
            </a:pPr>
            <a:r>
              <a:rPr lang="en-US" sz="1200" dirty="0">
                <a:solidFill>
                  <a:srgbClr val="F2A65A"/>
                </a:solidFill>
                <a:latin typeface="JetBrains Mono" pitchFamily="49" charset="0"/>
                <a:ea typeface="JetBrains Mono" pitchFamily="49" charset="-122"/>
                <a:cs typeface="JetBrains Mono" pitchFamily="49" charset="-120"/>
              </a:rPr>
              <a:t>def</a:t>
            </a:r>
            <a:r>
              <a:rPr lang="en-US" sz="1200" dirty="0">
                <a:solidFill>
                  <a:srgbClr val="E6E9EF"/>
                </a:solidFill>
                <a:latin typeface="JetBrains Mono" pitchFamily="49" charset="0"/>
                <a:ea typeface="JetBrains Mono" pitchFamily="49" charset="-122"/>
                <a:cs typeface="JetBrains Mono" pitchFamily="49" charset="-120"/>
              </a:rPr>
              <a:t> setUp(self):</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self.driver = webdriver.Chrome()</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self.driver.implicitly_wait(5)</a:t>
            </a:r>
            <a:endParaRPr lang="en-US" sz="1200" dirty="0"/>
          </a:p>
          <a:p>
            <a:pPr algn="l" indent="0" marL="0">
              <a:lnSpc>
                <a:spcPts val="1800"/>
              </a:lnSpc>
              <a:buNone/>
            </a:pPr>
            <a:endParaRPr lang="en-US" sz="1200" dirty="0"/>
          </a:p>
          <a:p>
            <a:pPr algn="l" indent="0" marL="0">
              <a:lnSpc>
                <a:spcPts val="1800"/>
              </a:lnSpc>
              <a:buNone/>
            </a:pPr>
            <a:r>
              <a:rPr lang="en-US" sz="1200" dirty="0">
                <a:solidFill>
                  <a:srgbClr val="F2A65A"/>
                </a:solidFill>
                <a:latin typeface="JetBrains Mono" pitchFamily="49" charset="0"/>
                <a:ea typeface="JetBrains Mono" pitchFamily="49" charset="-122"/>
                <a:cs typeface="JetBrains Mono" pitchFamily="49" charset="-120"/>
              </a:rPr>
              <a:t>def</a:t>
            </a:r>
            <a:r>
              <a:rPr lang="en-US" sz="1200" dirty="0">
                <a:solidFill>
                  <a:srgbClr val="E6E9EF"/>
                </a:solidFill>
                <a:latin typeface="JetBrains Mono" pitchFamily="49" charset="0"/>
                <a:ea typeface="JetBrains Mono" pitchFamily="49" charset="-122"/>
                <a:cs typeface="JetBrains Mono" pitchFamily="49" charset="-120"/>
              </a:rPr>
              <a:t> test_login_thanh_cong(self):</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d = self.driver</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d.get(BASE_URL + </a:t>
            </a:r>
            <a:r>
              <a:rPr lang="en-US" sz="1200" dirty="0">
                <a:solidFill>
                  <a:srgbClr val="9BD49B"/>
                </a:solidFill>
                <a:latin typeface="JetBrains Mono" pitchFamily="49" charset="0"/>
                <a:ea typeface="JetBrains Mono" pitchFamily="49" charset="-122"/>
                <a:cs typeface="JetBrains Mono" pitchFamily="49" charset="-120"/>
              </a:rPr>
              <a:t>"/login"</a:t>
            </a:r>
            <a:r>
              <a:rPr lang="en-US" sz="1200" dirty="0">
                <a:solidFill>
                  <a:srgbClr val="E6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d.find_element(By.ID, </a:t>
            </a:r>
            <a:r>
              <a:rPr lang="en-US" sz="1200" dirty="0">
                <a:solidFill>
                  <a:srgbClr val="9BD49B"/>
                </a:solidFill>
                <a:latin typeface="JetBrains Mono" pitchFamily="49" charset="0"/>
                <a:ea typeface="JetBrains Mono" pitchFamily="49" charset="-122"/>
                <a:cs typeface="JetBrains Mono" pitchFamily="49" charset="-120"/>
              </a:rPr>
              <a:t>"username"</a:t>
            </a:r>
            <a:r>
              <a:rPr lang="en-US" sz="1200" dirty="0">
                <a:solidFill>
                  <a:srgbClr val="E6E9EF"/>
                </a:solidFill>
                <a:latin typeface="JetBrains Mono" pitchFamily="49" charset="0"/>
                <a:ea typeface="JetBrains Mono" pitchFamily="49" charset="-122"/>
                <a:cs typeface="JetBrains Mono" pitchFamily="49" charset="-120"/>
              </a:rPr>
              <a:t>).send_keys(</a:t>
            </a:r>
            <a:r>
              <a:rPr lang="en-US" sz="1200" dirty="0">
                <a:solidFill>
                  <a:srgbClr val="9BD49B"/>
                </a:solidFill>
                <a:latin typeface="JetBrains Mono" pitchFamily="49" charset="0"/>
                <a:ea typeface="JetBrains Mono" pitchFamily="49" charset="-122"/>
                <a:cs typeface="JetBrains Mono" pitchFamily="49" charset="-120"/>
              </a:rPr>
              <a:t>"tomsmith"</a:t>
            </a:r>
            <a:r>
              <a:rPr lang="en-US" sz="1200" dirty="0">
                <a:solidFill>
                  <a:srgbClr val="E6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d.find_element(By.ID, </a:t>
            </a:r>
            <a:r>
              <a:rPr lang="en-US" sz="1200" dirty="0">
                <a:solidFill>
                  <a:srgbClr val="9BD49B"/>
                </a:solidFill>
                <a:latin typeface="JetBrains Mono" pitchFamily="49" charset="0"/>
                <a:ea typeface="JetBrains Mono" pitchFamily="49" charset="-122"/>
                <a:cs typeface="JetBrains Mono" pitchFamily="49" charset="-120"/>
              </a:rPr>
              <a:t>"password"</a:t>
            </a:r>
            <a:r>
              <a:rPr lang="en-US" sz="1200" dirty="0">
                <a:solidFill>
                  <a:srgbClr val="E6E9EF"/>
                </a:solidFill>
                <a:latin typeface="JetBrains Mono" pitchFamily="49" charset="0"/>
                <a:ea typeface="JetBrains Mono" pitchFamily="49" charset="-122"/>
                <a:cs typeface="JetBrains Mono" pitchFamily="49" charset="-120"/>
              </a:rPr>
              <a:t>).send_keys(</a:t>
            </a:r>
            <a:r>
              <a:rPr lang="en-US" sz="1200" dirty="0">
                <a:solidFill>
                  <a:srgbClr val="9BD49B"/>
                </a:solidFill>
                <a:latin typeface="JetBrains Mono" pitchFamily="49" charset="0"/>
                <a:ea typeface="JetBrains Mono" pitchFamily="49" charset="-122"/>
                <a:cs typeface="JetBrains Mono" pitchFamily="49" charset="-120"/>
              </a:rPr>
              <a:t>"SuperSecretPassword!"</a:t>
            </a:r>
            <a:r>
              <a:rPr lang="en-US" sz="1200" dirty="0">
                <a:solidFill>
                  <a:srgbClr val="E6E9EF"/>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d.find_element(By.CSS_SELECTOR, </a:t>
            </a:r>
            <a:r>
              <a:rPr lang="en-US" sz="1200" dirty="0">
                <a:solidFill>
                  <a:srgbClr val="9BD49B"/>
                </a:solidFill>
                <a:latin typeface="JetBrains Mono" pitchFamily="49" charset="0"/>
                <a:ea typeface="JetBrains Mono" pitchFamily="49" charset="-122"/>
                <a:cs typeface="JetBrains Mono" pitchFamily="49" charset="-120"/>
              </a:rPr>
              <a:t>"button[type='submit']"</a:t>
            </a:r>
            <a:r>
              <a:rPr lang="en-US" sz="1200" dirty="0">
                <a:solidFill>
                  <a:srgbClr val="E6E9EF"/>
                </a:solidFill>
                <a:latin typeface="JetBrains Mono" pitchFamily="49" charset="0"/>
                <a:ea typeface="JetBrains Mono" pitchFamily="49" charset="-122"/>
                <a:cs typeface="JetBrains Mono" pitchFamily="49" charset="-120"/>
              </a:rPr>
              <a:t>).click()</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flash = d.find_element(By.ID, </a:t>
            </a:r>
            <a:r>
              <a:rPr lang="en-US" sz="1200" dirty="0">
                <a:solidFill>
                  <a:srgbClr val="9BD49B"/>
                </a:solidFill>
                <a:latin typeface="JetBrains Mono" pitchFamily="49" charset="0"/>
                <a:ea typeface="JetBrains Mono" pitchFamily="49" charset="-122"/>
                <a:cs typeface="JetBrains Mono" pitchFamily="49" charset="-120"/>
              </a:rPr>
              <a:t>"flash"</a:t>
            </a:r>
            <a:r>
              <a:rPr lang="en-US" sz="1200" dirty="0">
                <a:solidFill>
                  <a:srgbClr val="E6E9EF"/>
                </a:solidFill>
                <a:latin typeface="JetBrains Mono" pitchFamily="49" charset="0"/>
                <a:ea typeface="JetBrains Mono" pitchFamily="49" charset="-122"/>
                <a:cs typeface="JetBrains Mono" pitchFamily="49" charset="-120"/>
              </a:rPr>
              <a:t>).text</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self.assertIn(</a:t>
            </a:r>
            <a:r>
              <a:rPr lang="en-US" sz="1200" dirty="0">
                <a:solidFill>
                  <a:srgbClr val="9BD49B"/>
                </a:solidFill>
                <a:latin typeface="JetBrains Mono" pitchFamily="49" charset="0"/>
                <a:ea typeface="JetBrains Mono" pitchFamily="49" charset="-122"/>
                <a:cs typeface="JetBrains Mono" pitchFamily="49" charset="-120"/>
              </a:rPr>
              <a:t>"You logged into a secure area!"</a:t>
            </a:r>
            <a:r>
              <a:rPr lang="en-US" sz="1200" dirty="0">
                <a:solidFill>
                  <a:srgbClr val="E6E9EF"/>
                </a:solidFill>
                <a:latin typeface="JetBrains Mono" pitchFamily="49" charset="0"/>
                <a:ea typeface="JetBrains Mono" pitchFamily="49" charset="-122"/>
                <a:cs typeface="JetBrains Mono" pitchFamily="49" charset="-120"/>
              </a:rPr>
              <a:t>, flash)</a:t>
            </a:r>
            <a:endParaRPr lang="en-US" sz="1200" dirty="0"/>
          </a:p>
          <a:p>
            <a:pPr algn="l" indent="0" marL="0">
              <a:lnSpc>
                <a:spcPts val="1800"/>
              </a:lnSpc>
              <a:buNone/>
            </a:pPr>
            <a:endParaRPr lang="en-US" sz="1200" dirty="0"/>
          </a:p>
          <a:p>
            <a:pPr algn="l" indent="0" marL="0">
              <a:lnSpc>
                <a:spcPts val="1800"/>
              </a:lnSpc>
              <a:buNone/>
            </a:pPr>
            <a:r>
              <a:rPr lang="en-US" sz="1200" dirty="0">
                <a:solidFill>
                  <a:srgbClr val="F2A65A"/>
                </a:solidFill>
                <a:latin typeface="JetBrains Mono" pitchFamily="49" charset="0"/>
                <a:ea typeface="JetBrains Mono" pitchFamily="49" charset="-122"/>
                <a:cs typeface="JetBrains Mono" pitchFamily="49" charset="-120"/>
              </a:rPr>
              <a:t>def</a:t>
            </a:r>
            <a:r>
              <a:rPr lang="en-US" sz="1200" dirty="0">
                <a:solidFill>
                  <a:srgbClr val="E6E9EF"/>
                </a:solidFill>
                <a:latin typeface="JetBrains Mono" pitchFamily="49" charset="0"/>
                <a:ea typeface="JetBrains Mono" pitchFamily="49" charset="-122"/>
                <a:cs typeface="JetBrains Mono" pitchFamily="49" charset="-120"/>
              </a:rPr>
              <a:t> tearDown(self):</a:t>
            </a:r>
            <a:endParaRPr lang="en-US" sz="1200" dirty="0"/>
          </a:p>
          <a:p>
            <a:pPr algn="l" indent="0" marL="0">
              <a:lnSpc>
                <a:spcPts val="1800"/>
              </a:lnSpc>
              <a:buNone/>
            </a:pPr>
            <a:r>
              <a:rPr lang="en-US" sz="1200" dirty="0">
                <a:solidFill>
                  <a:srgbClr val="E6E9EF"/>
                </a:solidFill>
                <a:latin typeface="JetBrains Mono" pitchFamily="49" charset="0"/>
                <a:ea typeface="JetBrains Mono" pitchFamily="49" charset="-122"/>
                <a:cs typeface="JetBrains Mono" pitchFamily="49" charset="-120"/>
              </a:rPr>
              <a:t>    self.driver.quit()</a:t>
            </a:r>
            <a:endParaRPr lang="en-US" sz="1200" dirty="0"/>
          </a:p>
        </p:txBody>
      </p:sp>
      <p:sp>
        <p:nvSpPr>
          <p:cNvPr id="5" name="Text 3"/>
          <p:cNvSpPr/>
          <p:nvPr/>
        </p:nvSpPr>
        <p:spPr>
          <a:xfrm>
            <a:off x="8420100" y="1874521"/>
            <a:ext cx="304787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B17"/>
                </a:solidFill>
                <a:latin typeface="Be Vietnam Pro" pitchFamily="34" charset="0"/>
                <a:ea typeface="Be Vietnam Pro" pitchFamily="34" charset="-122"/>
                <a:cs typeface="Be Vietnam Pro" pitchFamily="34" charset="-120"/>
              </a:rPr>
              <a:t>BƯỚC 1</a:t>
            </a:r>
            <a:endParaRPr lang="en-US" sz="1200" dirty="0"/>
          </a:p>
        </p:txBody>
      </p:sp>
      <p:sp>
        <p:nvSpPr>
          <p:cNvPr id="6" name="Text 4"/>
          <p:cNvSpPr/>
          <p:nvPr/>
        </p:nvSpPr>
        <p:spPr>
          <a:xfrm>
            <a:off x="8420100" y="2138682"/>
            <a:ext cx="30478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Mở trang</a:t>
            </a:r>
            <a:endParaRPr lang="en-US" sz="1600" dirty="0"/>
          </a:p>
        </p:txBody>
      </p:sp>
      <p:sp>
        <p:nvSpPr>
          <p:cNvPr id="7" name="Text 5"/>
          <p:cNvSpPr/>
          <p:nvPr/>
        </p:nvSpPr>
        <p:spPr>
          <a:xfrm>
            <a:off x="8420100" y="2433321"/>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8"/>
                </a:solidFill>
                <a:latin typeface="JetBrains Mono" pitchFamily="49" charset="0"/>
                <a:ea typeface="JetBrains Mono" pitchFamily="49" charset="-122"/>
                <a:cs typeface="JetBrains Mono" pitchFamily="49" charset="-120"/>
              </a:rPr>
              <a:t>get(url)</a:t>
            </a:r>
            <a:endParaRPr lang="en-US" sz="1200" dirty="0"/>
          </a:p>
        </p:txBody>
      </p:sp>
      <p:sp>
        <p:nvSpPr>
          <p:cNvPr id="8" name="Text 6"/>
          <p:cNvSpPr/>
          <p:nvPr/>
        </p:nvSpPr>
        <p:spPr>
          <a:xfrm>
            <a:off x="8420100" y="2849882"/>
            <a:ext cx="304787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B17"/>
                </a:solidFill>
                <a:latin typeface="Be Vietnam Pro" pitchFamily="34" charset="0"/>
                <a:ea typeface="Be Vietnam Pro" pitchFamily="34" charset="-122"/>
                <a:cs typeface="Be Vietnam Pro" pitchFamily="34" charset="-120"/>
              </a:rPr>
              <a:t>BƯỚC 2</a:t>
            </a:r>
            <a:endParaRPr lang="en-US" sz="1200" dirty="0"/>
          </a:p>
        </p:txBody>
      </p:sp>
      <p:sp>
        <p:nvSpPr>
          <p:cNvPr id="9" name="Text 7"/>
          <p:cNvSpPr/>
          <p:nvPr/>
        </p:nvSpPr>
        <p:spPr>
          <a:xfrm>
            <a:off x="8420100" y="3114039"/>
            <a:ext cx="30478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Thao tác như người dùng</a:t>
            </a:r>
            <a:endParaRPr lang="en-US" sz="1600" dirty="0"/>
          </a:p>
        </p:txBody>
      </p:sp>
      <p:sp>
        <p:nvSpPr>
          <p:cNvPr id="10" name="Text 8"/>
          <p:cNvSpPr/>
          <p:nvPr/>
        </p:nvSpPr>
        <p:spPr>
          <a:xfrm>
            <a:off x="8420100" y="3408682"/>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8"/>
                </a:solidFill>
                <a:latin typeface="JetBrains Mono" pitchFamily="49" charset="0"/>
                <a:ea typeface="JetBrains Mono" pitchFamily="49" charset="-122"/>
                <a:cs typeface="JetBrains Mono" pitchFamily="49" charset="-120"/>
              </a:rPr>
              <a:t>find_element, send_keys, click</a:t>
            </a:r>
            <a:endParaRPr lang="en-US" sz="1200" dirty="0"/>
          </a:p>
        </p:txBody>
      </p:sp>
      <p:sp>
        <p:nvSpPr>
          <p:cNvPr id="11" name="Text 9"/>
          <p:cNvSpPr/>
          <p:nvPr/>
        </p:nvSpPr>
        <p:spPr>
          <a:xfrm>
            <a:off x="8420100" y="3825239"/>
            <a:ext cx="304787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B17"/>
                </a:solidFill>
                <a:latin typeface="Be Vietnam Pro" pitchFamily="34" charset="0"/>
                <a:ea typeface="Be Vietnam Pro" pitchFamily="34" charset="-122"/>
                <a:cs typeface="Be Vietnam Pro" pitchFamily="34" charset="-120"/>
              </a:rPr>
              <a:t>BƯỚC 3</a:t>
            </a:r>
            <a:endParaRPr lang="en-US" sz="1200" dirty="0"/>
          </a:p>
        </p:txBody>
      </p:sp>
      <p:sp>
        <p:nvSpPr>
          <p:cNvPr id="12" name="Text 10"/>
          <p:cNvSpPr/>
          <p:nvPr/>
        </p:nvSpPr>
        <p:spPr>
          <a:xfrm>
            <a:off x="8420100" y="4089400"/>
            <a:ext cx="30478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Be Vietnam Pro" pitchFamily="34" charset="0"/>
                <a:ea typeface="Be Vietnam Pro" pitchFamily="34" charset="-122"/>
                <a:cs typeface="Be Vietnam Pro" pitchFamily="34" charset="-120"/>
              </a:rPr>
              <a:t>Kiểm tra kết quả</a:t>
            </a:r>
            <a:endParaRPr lang="en-US" sz="1600" dirty="0"/>
          </a:p>
        </p:txBody>
      </p:sp>
      <p:sp>
        <p:nvSpPr>
          <p:cNvPr id="13" name="Text 11"/>
          <p:cNvSpPr/>
          <p:nvPr/>
        </p:nvSpPr>
        <p:spPr>
          <a:xfrm>
            <a:off x="8420100" y="4384039"/>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8"/>
                </a:solidFill>
                <a:latin typeface="JetBrains Mono" pitchFamily="49" charset="0"/>
                <a:ea typeface="JetBrains Mono" pitchFamily="49" charset="-122"/>
                <a:cs typeface="JetBrains Mono" pitchFamily="49" charset="-120"/>
              </a:rPr>
              <a:t>assertIn, assertEqual</a:t>
            </a:r>
            <a:endParaRPr lang="en-US" sz="1200" dirty="0"/>
          </a:p>
        </p:txBody>
      </p:sp>
      <p:sp>
        <p:nvSpPr>
          <p:cNvPr id="14" name="Shape 12"/>
          <p:cNvSpPr/>
          <p:nvPr/>
        </p:nvSpPr>
        <p:spPr>
          <a:xfrm>
            <a:off x="8420100" y="4806950"/>
            <a:ext cx="2959100" cy="0"/>
          </a:xfrm>
          <a:prstGeom prst="line">
            <a:avLst/>
          </a:prstGeom>
          <a:noFill/>
          <a:ln w="12700">
            <a:solidFill>
              <a:srgbClr val="C9C5B9"/>
            </a:solidFill>
            <a:prstDash val="solid"/>
          </a:ln>
        </p:spPr>
      </p:sp>
      <p:sp>
        <p:nvSpPr>
          <p:cNvPr id="15" name="Text 13"/>
          <p:cNvSpPr/>
          <p:nvPr/>
        </p:nvSpPr>
        <p:spPr>
          <a:xfrm>
            <a:off x="8420100" y="4937761"/>
            <a:ext cx="30478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658"/>
                </a:solidFill>
                <a:latin typeface="Be Vietnam Pro" pitchFamily="34" charset="0"/>
                <a:ea typeface="Be Vietnam Pro" pitchFamily="34" charset="-122"/>
                <a:cs typeface="Be Vietnam Pro" pitchFamily="34" charset="-120"/>
              </a:rPr>
              <a:t>setUp / tearDown mở và đóng Chrome cho mỗi test.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Be Vietnam Pro" pitchFamily="34" charset="0"/>
                <a:ea typeface="Be Vietnam Pro" pitchFamily="34" charset="-122"/>
                <a:cs typeface="Be Vietnam Pro" pitchFamily="34" charset="-120"/>
              </a:rPr>
              <a:t>06 · DEMO TRỰC TIẾP</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Be Vietnam Pro" pitchFamily="34" charset="0"/>
                <a:ea typeface="Be Vietnam Pro" pitchFamily="34" charset="-122"/>
                <a:cs typeface="Be Vietnam Pro" pitchFamily="34" charset="-120"/>
              </a:rPr>
              <a:t>Chạy thử trước lớp</a:t>
            </a:r>
            <a:endParaRPr lang="en-US" sz="3200" dirty="0"/>
          </a:p>
        </p:txBody>
      </p:sp>
      <p:sp>
        <p:nvSpPr>
          <p:cNvPr id="4" name="Text 2"/>
          <p:cNvSpPr/>
          <p:nvPr/>
        </p:nvSpPr>
        <p:spPr>
          <a:xfrm>
            <a:off x="812800" y="1960882"/>
            <a:ext cx="118102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Be Vietnam Pro" pitchFamily="34" charset="0"/>
                <a:ea typeface="Be Vietnam Pro" pitchFamily="34" charset="-122"/>
                <a:cs typeface="Be Vietnam Pro" pitchFamily="34" charset="-120"/>
              </a:rPr>
              <a:t>LỆNH CHẠY</a:t>
            </a:r>
            <a:endParaRPr lang="en-US" sz="1200" dirty="0"/>
          </a:p>
        </p:txBody>
      </p:sp>
      <p:sp>
        <p:nvSpPr>
          <p:cNvPr id="5" name="Text 3"/>
          <p:cNvSpPr/>
          <p:nvPr/>
        </p:nvSpPr>
        <p:spPr>
          <a:xfrm>
            <a:off x="1993821" y="1823721"/>
            <a:ext cx="4622800" cy="487680"/>
          </a:xfrm>
          <a:prstGeom prst="roundRect">
            <a:avLst>
              <a:gd name="adj" fmla="val 15625"/>
            </a:avLst>
          </a:prstGeom>
          <a:solidFill>
            <a:srgbClr val="14213D"/>
          </a:solidFill>
          <a:ln/>
        </p:spPr>
        <p:txBody>
          <a:bodyPr wrap="none" lIns="0" tIns="0" rIns="0" bIns="0" rtlCol="0" anchor="ctr">
            <a:normAutofit/>
          </a:bodyPr>
          <a:lstStyle/>
          <a:p>
            <a:pPr algn="ctr" indent="0" marL="0">
              <a:lnSpc>
                <a:spcPts val="2240"/>
              </a:lnSpc>
              <a:buNone/>
            </a:pPr>
            <a:r>
              <a:rPr lang="en-US" sz="1600" dirty="0">
                <a:solidFill>
                  <a:srgbClr val="F6F5F0"/>
                </a:solidFill>
                <a:latin typeface="JetBrains Mono" pitchFamily="49" charset="0"/>
                <a:ea typeface="JetBrains Mono" pitchFamily="49" charset="-122"/>
                <a:cs typeface="JetBrains Mono" pitchFamily="49" charset="-120"/>
              </a:rPr>
              <a:t>python -m unittest test_login.py -v</a:t>
            </a:r>
            <a:endParaRPr lang="en-US" sz="1600" dirty="0"/>
          </a:p>
        </p:txBody>
      </p:sp>
      <p:sp>
        <p:nvSpPr>
          <p:cNvPr id="6" name="Shape 4"/>
          <p:cNvSpPr/>
          <p:nvPr/>
        </p:nvSpPr>
        <p:spPr>
          <a:xfrm>
            <a:off x="812800" y="2565400"/>
            <a:ext cx="10566400" cy="2062480"/>
          </a:xfrm>
          <a:prstGeom prst="roundRect">
            <a:avLst>
              <a:gd name="adj" fmla="val 4926"/>
            </a:avLst>
          </a:prstGeom>
          <a:solidFill>
            <a:srgbClr val="FBF7F2"/>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75360" y="2727960"/>
          <a:ext cx="10251440" cy="1747520"/>
        </p:xfrm>
        <a:graphic>
          <a:graphicData uri="http://schemas.openxmlformats.org/drawingml/2006/table">
            <a:tbl>
              <a:tblPr/>
              <a:tblGrid>
                <a:gridCol w="3177946"/>
                <a:gridCol w="3793033"/>
                <a:gridCol w="3280461"/>
              </a:tblGrid>
              <a:tr h="436880">
                <a:tc>
                  <a:txBody>
                    <a:bodyPr/>
                    <a:lstStyle/>
                    <a:p>
                      <a:pPr indent="0" marL="0">
                        <a:lnSpc>
                          <a:spcPts val="2240"/>
                        </a:lnSpc>
                        <a:buNone/>
                      </a:pPr>
                      <a:r>
                        <a:rPr lang="en-US" sz="1600" b="1" dirty="0">
                          <a:solidFill>
                            <a:srgbClr val="F6F5F0"/>
                          </a:solidFill>
                          <a:latin typeface="Be Vietnam Pro" pitchFamily="34" charset="0"/>
                          <a:ea typeface="Be Vietnam Pro" pitchFamily="34" charset="-122"/>
                          <a:cs typeface="Be Vietnam Pro" pitchFamily="34" charset="-120"/>
                        </a:rPr>
                        <a:t>Test</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6F5F0"/>
                          </a:solidFill>
                          <a:latin typeface="Be Vietnam Pro" pitchFamily="34" charset="0"/>
                          <a:ea typeface="Be Vietnam Pro" pitchFamily="34" charset="-122"/>
                          <a:cs typeface="Be Vietnam Pro" pitchFamily="34" charset="-120"/>
                        </a:rPr>
                        <a:t>Thao tác</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2240"/>
                        </a:lnSpc>
                        <a:buNone/>
                      </a:pPr>
                      <a:r>
                        <a:rPr lang="en-US" sz="1600" b="1" dirty="0">
                          <a:solidFill>
                            <a:srgbClr val="F6F5F0"/>
                          </a:solidFill>
                          <a:latin typeface="Be Vietnam Pro" pitchFamily="34" charset="0"/>
                          <a:ea typeface="Be Vietnam Pro" pitchFamily="34" charset="-122"/>
                          <a:cs typeface="Be Vietnam Pro" pitchFamily="34" charset="-120"/>
                        </a:rPr>
                        <a:t>Kiểm tra</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436880">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test_login_thanh_cong</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/login, nhập đúng, bấm Login</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Đăng nhập thành công</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test_login_sai_mat_khau</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/login, sai mật khẩu + ENTER</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Báo lỗi mật khẩu</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test_bam_phim_tab</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/key_presses, nhấn TAB</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Be Vietnam Pro" pitchFamily="34" charset="0"/>
                          <a:ea typeface="Be Vietnam Pro" pitchFamily="34" charset="-122"/>
                          <a:cs typeface="Be Vietnam Pro" pitchFamily="34" charset="-120"/>
                        </a:rPr>
                        <a:t>Hiện “You entered: TAB”</a:t>
                      </a:r>
                      <a:endParaRPr lang="en-US" sz="1600" dirty="0">
                        <a:latin typeface="Be Vietnam Pro" charset="0"/>
                        <a:ea typeface="Be Vietnam Pro" charset="0"/>
                        <a:cs typeface="Be Vietnam Pro" charset="0"/>
                      </a:endParaRPr>
                    </a:p>
                  </a:txBody>
                  <a:tcPr marL="71120" marR="71120" marT="71120" marB="71120" anchor="t">
                    <a:lnL w="12700" cap="flat" cmpd="sng" algn="ctr">
                      <a:solidFill>
                        <a:srgbClr val="C8C5C1"/>
                      </a:solidFill>
                      <a:prstDash val="solid"/>
                      <a:round/>
                      <a:headEnd type="none" w="med" len="med"/>
                      <a:tailEnd type="none" w="med" len="med"/>
                    </a:lnL>
                    <a:lnR w="12700" cap="flat" cmpd="sng" algn="ctr">
                      <a:solidFill>
                        <a:srgbClr val="C8C5C1"/>
                      </a:solidFill>
                      <a:prstDash val="solid"/>
                      <a:round/>
                      <a:headEnd type="none" w="med" len="med"/>
                      <a:tailEnd type="none" w="med" len="med"/>
                    </a:lnR>
                    <a:lnT w="12700" cap="flat" cmpd="sng" algn="ctr">
                      <a:solidFill>
                        <a:srgbClr val="C8C5C1"/>
                      </a:solidFill>
                      <a:prstDash val="solid"/>
                      <a:round/>
                      <a:headEnd type="none" w="med" len="med"/>
                      <a:tailEnd type="none" w="med" len="med"/>
                    </a:lnT>
                    <a:lnB w="12700" cap="flat" cmpd="sng" algn="ctr">
                      <a:solidFill>
                        <a:srgbClr val="C8C5C1"/>
                      </a:solidFill>
                      <a:prstDash val="solid"/>
                      <a:round/>
                      <a:headEnd type="none" w="med" len="med"/>
                      <a:tailEnd type="none" w="med" len="med"/>
                    </a:lnB>
                  </a:tcPr>
                </a:tc>
              </a:tr>
            </a:tbl>
          </a:graphicData>
        </a:graphic>
      </p:graphicFrame>
      <p:sp>
        <p:nvSpPr>
          <p:cNvPr id="8" name="Text 5"/>
          <p:cNvSpPr/>
          <p:nvPr/>
        </p:nvSpPr>
        <p:spPr>
          <a:xfrm>
            <a:off x="812800" y="4983482"/>
            <a:ext cx="199366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Be Vietnam Pro" pitchFamily="34" charset="0"/>
                <a:ea typeface="Be Vietnam Pro" pitchFamily="34" charset="-122"/>
                <a:cs typeface="Be Vietnam Pro" pitchFamily="34" charset="-120"/>
              </a:rPr>
              <a:t>Kết quả mong đợi:</a:t>
            </a:r>
            <a:endParaRPr lang="en-US" sz="1600" dirty="0"/>
          </a:p>
        </p:txBody>
      </p:sp>
      <p:sp>
        <p:nvSpPr>
          <p:cNvPr id="9" name="Text 6"/>
          <p:cNvSpPr/>
          <p:nvPr/>
        </p:nvSpPr>
        <p:spPr>
          <a:xfrm>
            <a:off x="2806462" y="4881882"/>
            <a:ext cx="2306320" cy="487680"/>
          </a:xfrm>
          <a:prstGeom prst="roundRect">
            <a:avLst>
              <a:gd name="adj" fmla="val 15625"/>
            </a:avLst>
          </a:prstGeom>
          <a:solidFill>
            <a:srgbClr val="14213D"/>
          </a:solidFill>
          <a:ln/>
        </p:spPr>
        <p:txBody>
          <a:bodyPr wrap="none" lIns="0" tIns="0" rIns="0" bIns="0" rtlCol="0" anchor="ctr">
            <a:normAutofit/>
          </a:bodyPr>
          <a:lstStyle/>
          <a:p>
            <a:pPr algn="ctr" indent="0" marL="0">
              <a:lnSpc>
                <a:spcPts val="2240"/>
              </a:lnSpc>
              <a:buNone/>
            </a:pPr>
            <a:r>
              <a:rPr lang="en-US" sz="1600" dirty="0">
                <a:solidFill>
                  <a:srgbClr val="9BD49B"/>
                </a:solidFill>
                <a:latin typeface="JetBrains Mono" pitchFamily="49" charset="0"/>
                <a:ea typeface="JetBrains Mono" pitchFamily="49" charset="-122"/>
                <a:cs typeface="JetBrains Mono" pitchFamily="49" charset="-120"/>
              </a:rPr>
              <a:t>Ran 3 tests … OK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Be Vietnam Pro" pitchFamily="34" charset="0"/>
                <a:ea typeface="Be Vietnam Pro" pitchFamily="34" charset="-122"/>
                <a:cs typeface="Be Vietnam Pro" pitchFamily="34" charset="-120"/>
              </a:rPr>
              <a:t>TỔNG KẾT</a:t>
            </a:r>
            <a:endParaRPr lang="en-US" sz="1200" dirty="0"/>
          </a:p>
        </p:txBody>
      </p:sp>
      <p:sp>
        <p:nvSpPr>
          <p:cNvPr id="3" name="Text 1"/>
          <p:cNvSpPr/>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6F5F0"/>
                </a:solidFill>
                <a:latin typeface="Be Vietnam Pro" pitchFamily="34" charset="0"/>
                <a:ea typeface="Be Vietnam Pro" pitchFamily="34" charset="-122"/>
                <a:cs typeface="Be Vietnam Pro" pitchFamily="34" charset="-120"/>
              </a:rPr>
              <a:t>Ba điều cần nhớ</a:t>
            </a:r>
            <a:endParaRPr lang="en-US" sz="3200" dirty="0"/>
          </a:p>
        </p:txBody>
      </p:sp>
      <p:sp>
        <p:nvSpPr>
          <p:cNvPr id="4" name="Text 2"/>
          <p:cNvSpPr/>
          <p:nvPr/>
        </p:nvSpPr>
        <p:spPr>
          <a:xfrm>
            <a:off x="812800" y="2860039"/>
            <a:ext cx="17129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65A"/>
                </a:solidFill>
                <a:latin typeface="Be Vietnam Pro" pitchFamily="34" charset="0"/>
                <a:ea typeface="Be Vietnam Pro" pitchFamily="34" charset="-122"/>
                <a:cs typeface="Be Vietnam Pro" pitchFamily="34" charset="-120"/>
              </a:rPr>
              <a:t>1</a:t>
            </a:r>
            <a:endParaRPr lang="en-US" sz="2200" dirty="0"/>
          </a:p>
        </p:txBody>
      </p:sp>
      <p:sp>
        <p:nvSpPr>
          <p:cNvPr id="5" name="Text 3"/>
          <p:cNvSpPr/>
          <p:nvPr/>
        </p:nvSpPr>
        <p:spPr>
          <a:xfrm>
            <a:off x="1136491" y="2915921"/>
            <a:ext cx="680351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Be Vietnam Pro" pitchFamily="34" charset="0"/>
                <a:ea typeface="Be Vietnam Pro" pitchFamily="34" charset="-122"/>
                <a:cs typeface="Be Vietnam Pro" pitchFamily="34" charset="-120"/>
              </a:rPr>
              <a:t>Mỗi test UI gồm 3 bước: </a:t>
            </a:r>
            <a:r>
              <a:rPr lang="en-US" sz="1600" b="1" dirty="0">
                <a:solidFill>
                  <a:srgbClr val="C9D3E3"/>
                </a:solidFill>
                <a:latin typeface="Be Vietnam Pro" pitchFamily="34" charset="0"/>
                <a:ea typeface="Be Vietnam Pro" pitchFamily="34" charset="-122"/>
                <a:cs typeface="Be Vietnam Pro" pitchFamily="34" charset="-120"/>
              </a:rPr>
              <a:t>mở trang → thao tác → kiểm tra</a:t>
            </a:r>
            <a:r>
              <a:rPr lang="en-US" sz="1600" dirty="0">
                <a:solidFill>
                  <a:srgbClr val="C9D3E3"/>
                </a:solidFill>
                <a:latin typeface="Be Vietnam Pro" pitchFamily="34" charset="0"/>
                <a:ea typeface="Be Vietnam Pro" pitchFamily="34" charset="-122"/>
                <a:cs typeface="Be Vietnam Pro" pitchFamily="34" charset="-120"/>
              </a:rPr>
              <a:t>.</a:t>
            </a:r>
            <a:endParaRPr lang="en-US" sz="1600" dirty="0"/>
          </a:p>
        </p:txBody>
      </p:sp>
      <p:sp>
        <p:nvSpPr>
          <p:cNvPr id="6" name="Text 4"/>
          <p:cNvSpPr/>
          <p:nvPr/>
        </p:nvSpPr>
        <p:spPr>
          <a:xfrm>
            <a:off x="812800" y="3403600"/>
            <a:ext cx="23637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65A"/>
                </a:solidFill>
                <a:latin typeface="Be Vietnam Pro" pitchFamily="34" charset="0"/>
                <a:ea typeface="Be Vietnam Pro" pitchFamily="34" charset="-122"/>
                <a:cs typeface="Be Vietnam Pro" pitchFamily="34" charset="-120"/>
              </a:rPr>
              <a:t>2</a:t>
            </a:r>
            <a:endParaRPr lang="en-US" sz="2200" dirty="0"/>
          </a:p>
        </p:txBody>
      </p:sp>
      <p:sp>
        <p:nvSpPr>
          <p:cNvPr id="7" name="Text 5"/>
          <p:cNvSpPr/>
          <p:nvPr/>
        </p:nvSpPr>
        <p:spPr>
          <a:xfrm>
            <a:off x="1201579" y="3459482"/>
            <a:ext cx="10228041"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Be Vietnam Pro" pitchFamily="34" charset="0"/>
                <a:ea typeface="Be Vietnam Pro" pitchFamily="34" charset="-122"/>
                <a:cs typeface="Be Vietnam Pro" pitchFamily="34" charset="-120"/>
              </a:rPr>
              <a:t>Code không chạm trực tiếp trình duyệt: lệnh đi qua </a:t>
            </a:r>
            <a:r>
              <a:rPr lang="en-US" sz="1600" b="1" dirty="0">
                <a:solidFill>
                  <a:srgbClr val="C9D3E3"/>
                </a:solidFill>
                <a:latin typeface="Be Vietnam Pro" pitchFamily="34" charset="0"/>
                <a:ea typeface="Be Vietnam Pro" pitchFamily="34" charset="-122"/>
                <a:cs typeface="Be Vietnam Pro" pitchFamily="34" charset="-120"/>
              </a:rPr>
              <a:t>driver</a:t>
            </a:r>
            <a:r>
              <a:rPr lang="en-US" sz="1600" dirty="0">
                <a:solidFill>
                  <a:srgbClr val="C9D3E3"/>
                </a:solidFill>
                <a:latin typeface="Be Vietnam Pro" pitchFamily="34" charset="0"/>
                <a:ea typeface="Be Vietnam Pro" pitchFamily="34" charset="-122"/>
                <a:cs typeface="Be Vietnam Pro" pitchFamily="34" charset="-120"/>
              </a:rPr>
              <a:t> theo chuẩn W3C WebDriver.</a:t>
            </a:r>
            <a:endParaRPr lang="en-US" sz="1600" dirty="0"/>
          </a:p>
        </p:txBody>
      </p:sp>
      <p:sp>
        <p:nvSpPr>
          <p:cNvPr id="8" name="Text 6"/>
          <p:cNvSpPr/>
          <p:nvPr/>
        </p:nvSpPr>
        <p:spPr>
          <a:xfrm>
            <a:off x="812800" y="3947161"/>
            <a:ext cx="24082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2A65A"/>
                </a:solidFill>
                <a:latin typeface="Be Vietnam Pro" pitchFamily="34" charset="0"/>
                <a:ea typeface="Be Vietnam Pro" pitchFamily="34" charset="-122"/>
                <a:cs typeface="Be Vietnam Pro" pitchFamily="34" charset="-120"/>
              </a:rPr>
              <a:t>3</a:t>
            </a:r>
            <a:endParaRPr lang="en-US" sz="2200" dirty="0"/>
          </a:p>
        </p:txBody>
      </p:sp>
      <p:sp>
        <p:nvSpPr>
          <p:cNvPr id="9" name="Text 7"/>
          <p:cNvSpPr/>
          <p:nvPr/>
        </p:nvSpPr>
        <p:spPr>
          <a:xfrm>
            <a:off x="1206024" y="4003039"/>
            <a:ext cx="835361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3"/>
                </a:solidFill>
                <a:latin typeface="Be Vietnam Pro" pitchFamily="34" charset="0"/>
                <a:ea typeface="Be Vietnam Pro" pitchFamily="34" charset="-122"/>
                <a:cs typeface="Be Vietnam Pro" pitchFamily="34" charset="-120"/>
              </a:rPr>
              <a:t>Test UI chậm và dễ vỡ, nên </a:t>
            </a:r>
            <a:r>
              <a:rPr lang="en-US" sz="1600" b="1" dirty="0">
                <a:solidFill>
                  <a:srgbClr val="C9D3E3"/>
                </a:solidFill>
                <a:latin typeface="Be Vietnam Pro" pitchFamily="34" charset="0"/>
                <a:ea typeface="Be Vietnam Pro" pitchFamily="34" charset="-122"/>
                <a:cs typeface="Be Vietnam Pro" pitchFamily="34" charset="-120"/>
              </a:rPr>
              <a:t>ít và có chọn lọc</a:t>
            </a:r>
            <a:r>
              <a:rPr lang="en-US" sz="1600" dirty="0">
                <a:solidFill>
                  <a:srgbClr val="C9D3E3"/>
                </a:solidFill>
                <a:latin typeface="Be Vietnam Pro" pitchFamily="34" charset="0"/>
                <a:ea typeface="Be Vietnam Pro" pitchFamily="34" charset="-122"/>
                <a:cs typeface="Be Vietnam Pro" pitchFamily="34" charset="-120"/>
              </a:rPr>
              <a:t>: chỉ cho luồng quan trọng.</a:t>
            </a:r>
            <a:endParaRPr lang="en-US" sz="1600" dirty="0"/>
          </a:p>
        </p:txBody>
      </p:sp>
      <p:sp>
        <p:nvSpPr>
          <p:cNvPr id="10" name="Text 8"/>
          <p:cNvSpPr/>
          <p:nvPr/>
        </p:nvSpPr>
        <p:spPr>
          <a:xfrm>
            <a:off x="812800" y="5577842"/>
            <a:ext cx="4319397"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F6F5F0"/>
                </a:solidFill>
                <a:latin typeface="Be Vietnam Pro" pitchFamily="34" charset="0"/>
                <a:ea typeface="Be Vietnam Pro" pitchFamily="34" charset="-122"/>
                <a:cs typeface="Be Vietnam Pro" pitchFamily="34" charset="-120"/>
              </a:rPr>
              <a:t>Cảm ơn! Câu hỏi?</a:t>
            </a:r>
            <a:endParaRPr lang="en-US" sz="3200" dirty="0"/>
          </a:p>
        </p:txBody>
      </p:sp>
      <p:sp>
        <p:nvSpPr>
          <p:cNvPr id="11" name="Text 9"/>
          <p:cNvSpPr/>
          <p:nvPr/>
        </p:nvSpPr>
        <p:spPr>
          <a:xfrm>
            <a:off x="9674066" y="5598164"/>
            <a:ext cx="1705134" cy="4521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3"/>
                </a:solidFill>
                <a:latin typeface="Be Vietnam Pro" pitchFamily="34" charset="0"/>
                <a:ea typeface="Be Vietnam Pro" pitchFamily="34" charset="-122"/>
                <a:cs typeface="Be Vietnam Pro" pitchFamily="34" charset="-120"/>
              </a:rPr>
              <a:t>Tiếp theo: chức năng 1</a:t>
            </a:r>
            <a:endParaRPr lang="en-US" sz="1200" dirty="0"/>
          </a:p>
          <a:p>
            <a:pPr algn="r" indent="0" marL="0">
              <a:lnSpc>
                <a:spcPts val="1680"/>
              </a:lnSpc>
              <a:buNone/>
            </a:pPr>
            <a:r>
              <a:rPr lang="en-US" sz="1200" dirty="0">
                <a:solidFill>
                  <a:srgbClr val="C9D3E3"/>
                </a:solidFill>
                <a:latin typeface="Be Vietnam Pro" pitchFamily="34" charset="0"/>
                <a:ea typeface="Be Vietnam Pro" pitchFamily="34" charset="-122"/>
                <a:cs typeface="Be Vietnam Pro" pitchFamily="34" charset="-120"/>
              </a:rPr>
              <a:t>/key_presses, /inputs</a:t>
            </a:r>
            <a:endParaRPr lang="en-US" sz="1200" dirty="0"/>
          </a:p>
        </p:txBody>
      </p:sp>
    </p:spTree>
  </p:cSld>
  <p:clrMapOvr>
    <a:masterClrMapping/>
  </p:clrMapOvr>
</p:sld>
</file>

<file path=ppt/theme/theme1.xml><?xml version="1.0" encoding="utf-8"?>
<a:theme xmlns:a="http://schemas.openxmlformats.org/drawingml/2006/main" name="Tuần 6 – Team W1: Kiểm thử tự động với Selenium">
  <a:themeElements>
    <a:clrScheme name="Tuần 6 – Team W1: Kiểm thử tự động với Selenium">
      <a:dk1>
        <a:srgbClr val="14213D"/>
      </a:dk1>
      <a:lt1>
        <a:srgbClr val="F6F5F0"/>
      </a:lt1>
      <a:dk2>
        <a:srgbClr val="4D566A"/>
      </a:dk2>
      <a:lt2>
        <a:srgbClr val="DFE0DE"/>
      </a:lt2>
      <a:accent1>
        <a:srgbClr val="A84B17"/>
      </a:accent1>
      <a:accent2>
        <a:srgbClr val="F2A65A"/>
      </a:accent2>
      <a:accent3>
        <a:srgbClr val="2F6FB0"/>
      </a:accent3>
      <a:accent4>
        <a:srgbClr val="9BD49B"/>
      </a:accent4>
      <a:accent5>
        <a:srgbClr val="3D4658"/>
      </a:accent5>
      <a:accent6>
        <a:srgbClr val="C9D3E3"/>
      </a:accent6>
      <a:hlink>
        <a:srgbClr val="0563C1"/>
      </a:hlink>
      <a:folHlink>
        <a:srgbClr val="954F72"/>
      </a:folHlink>
    </a:clrScheme>
    <a:fontScheme name="Tuần 6 – Team W1: Kiểm thử tự động với Selenium">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Tuần 6 – Team W1: Kiểm thử tự động với Selenium</dc:title>
  <dc:subject/>
  <dc:creator/>
  <cp:lastModifiedBy/>
  <cp:revision>1</cp:revision>
  <dcterms:created xsi:type="dcterms:W3CDTF">2026-10-20T09:59:22Z</dcterms:created>
  <dcterms:modified xsi:type="dcterms:W3CDTF">2026-10-20T09:59:22Z</dcterms:modified>
</cp:coreProperties>
</file>